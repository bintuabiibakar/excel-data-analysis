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7" d="100"/>
          <a:sy n="67" d="100"/>
        </p:scale>
        <p:origin x="62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Properties</c:v>
                </c:pt>
              </c:strCache>
            </c:strRef>
          </c:tx>
          <c:spPr>
            <a:solidFill>
              <a:srgbClr val="5F943C"/>
            </a:solidFill>
            <a:effectLst/>
          </c:spPr>
          <c:invertIfNegative val="0"/>
          <c:dLbls>
            <c:numFmt formatCode="#,##0" sourceLinked="0"/>
            <c:spPr>
              <a:noFill/>
              <a:ln>
                <a:noFill/>
              </a:ln>
              <a:effectLst/>
            </c:spPr>
            <c:txPr>
              <a:bodyPr/>
              <a:lstStyle/>
              <a:p>
                <a:pPr>
                  <a:defRPr sz="9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Baidoa</c:v>
                </c:pt>
                <c:pt idx="1">
                  <c:v>Bosaso</c:v>
                </c:pt>
                <c:pt idx="2">
                  <c:v>Garowe</c:v>
                </c:pt>
                <c:pt idx="3">
                  <c:v>Hargeisa</c:v>
                </c:pt>
                <c:pt idx="4">
                  <c:v>Kismayo</c:v>
                </c:pt>
                <c:pt idx="5">
                  <c:v>Mogadishu</c:v>
                </c:pt>
                <c:pt idx="6">
                  <c:v>Unknown</c:v>
                </c:pt>
              </c:strCache>
            </c:strRef>
          </c:cat>
          <c:val>
            <c:numRef>
              <c:f>Sheet1!$B$2:$B$8</c:f>
              <c:numCache>
                <c:formatCode>General</c:formatCode>
                <c:ptCount val="7"/>
                <c:pt idx="0">
                  <c:v>35</c:v>
                </c:pt>
                <c:pt idx="1">
                  <c:v>36</c:v>
                </c:pt>
                <c:pt idx="2">
                  <c:v>30</c:v>
                </c:pt>
                <c:pt idx="3">
                  <c:v>51</c:v>
                </c:pt>
                <c:pt idx="4">
                  <c:v>20</c:v>
                </c:pt>
                <c:pt idx="5">
                  <c:v>101</c:v>
                </c:pt>
                <c:pt idx="6">
                  <c:v>19</c:v>
                </c:pt>
              </c:numCache>
            </c:numRef>
          </c:val>
          <c:extLst>
            <c:ext xmlns:c16="http://schemas.microsoft.com/office/drawing/2014/chart" uri="{C3380CC4-5D6E-409C-BE32-E72D297353CC}">
              <c16:uniqueId val="{00000000-FE26-45F6-A5E8-04AEE97414DD}"/>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Type</c:v>
                </c:pt>
              </c:strCache>
            </c:strRef>
          </c:tx>
          <c:spPr>
            <a:solidFill>
              <a:schemeClr val="accent1"/>
            </a:solidFill>
            <a:ln w="9525" cap="flat">
              <a:solidFill>
                <a:srgbClr val="F9F9F9"/>
              </a:solidFill>
              <a:prstDash val="solid"/>
              <a:round/>
            </a:ln>
            <a:effectLst/>
          </c:spPr>
          <c:dPt>
            <c:idx val="0"/>
            <c:bubble3D val="0"/>
            <c:spPr>
              <a:solidFill>
                <a:srgbClr val="385724"/>
              </a:solidFill>
              <a:effectLst/>
            </c:spPr>
            <c:extLst>
              <c:ext xmlns:c16="http://schemas.microsoft.com/office/drawing/2014/chart" uri="{C3380CC4-5D6E-409C-BE32-E72D297353CC}">
                <c16:uniqueId val="{00000001-836C-49FF-8178-1D239F6E2F2B}"/>
              </c:ext>
            </c:extLst>
          </c:dPt>
          <c:dPt>
            <c:idx val="1"/>
            <c:bubble3D val="0"/>
            <c:spPr>
              <a:solidFill>
                <a:srgbClr val="5F943C"/>
              </a:solidFill>
              <a:effectLst/>
            </c:spPr>
            <c:extLst>
              <c:ext xmlns:c16="http://schemas.microsoft.com/office/drawing/2014/chart" uri="{C3380CC4-5D6E-409C-BE32-E72D297353CC}">
                <c16:uniqueId val="{00000003-836C-49FF-8178-1D239F6E2F2B}"/>
              </c:ext>
            </c:extLst>
          </c:dPt>
          <c:dPt>
            <c:idx val="2"/>
            <c:bubble3D val="0"/>
            <c:spPr>
              <a:solidFill>
                <a:srgbClr val="6FAD47"/>
              </a:solidFill>
              <a:effectLst/>
            </c:spPr>
            <c:extLst>
              <c:ext xmlns:c16="http://schemas.microsoft.com/office/drawing/2014/chart" uri="{C3380CC4-5D6E-409C-BE32-E72D297353CC}">
                <c16:uniqueId val="{00000005-836C-49FF-8178-1D239F6E2F2B}"/>
              </c:ext>
            </c:extLst>
          </c:dPt>
          <c:dPt>
            <c:idx val="3"/>
            <c:bubble3D val="0"/>
            <c:spPr>
              <a:solidFill>
                <a:srgbClr val="9BC97F"/>
              </a:solidFill>
              <a:effectLst/>
            </c:spPr>
            <c:extLst>
              <c:ext xmlns:c16="http://schemas.microsoft.com/office/drawing/2014/chart" uri="{C3380CC4-5D6E-409C-BE32-E72D297353CC}">
                <c16:uniqueId val="{00000007-836C-49FF-8178-1D239F6E2F2B}"/>
              </c:ext>
            </c:extLst>
          </c:dPt>
          <c:dPt>
            <c:idx val="4"/>
            <c:bubble3D val="0"/>
            <c:spPr>
              <a:solidFill>
                <a:srgbClr val="CBDDC4"/>
              </a:solidFill>
              <a:effectLst/>
            </c:spPr>
            <c:extLst>
              <c:ext xmlns:c16="http://schemas.microsoft.com/office/drawing/2014/chart" uri="{C3380CC4-5D6E-409C-BE32-E72D297353CC}">
                <c16:uniqueId val="{00000009-836C-49FF-8178-1D239F6E2F2B}"/>
              </c:ext>
            </c:extLst>
          </c:dPt>
          <c:dPt>
            <c:idx val="5"/>
            <c:bubble3D val="0"/>
            <c:spPr>
              <a:solidFill>
                <a:srgbClr val="A9C98A"/>
              </a:solidFill>
              <a:effectLst/>
            </c:spPr>
            <c:extLst>
              <c:ext xmlns:c16="http://schemas.microsoft.com/office/drawing/2014/chart" uri="{C3380CC4-5D6E-409C-BE32-E72D297353CC}">
                <c16:uniqueId val="{0000000B-836C-49FF-8178-1D239F6E2F2B}"/>
              </c:ext>
            </c:extLst>
          </c:dPt>
          <c:dLbls>
            <c:dLbl>
              <c:idx val="0"/>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6C-49FF-8178-1D239F6E2F2B}"/>
                </c:ext>
              </c:extLst>
            </c:dLbl>
            <c:dLbl>
              <c:idx val="1"/>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36C-49FF-8178-1D239F6E2F2B}"/>
                </c:ext>
              </c:extLst>
            </c:dLbl>
            <c:dLbl>
              <c:idx val="2"/>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36C-49FF-8178-1D239F6E2F2B}"/>
                </c:ext>
              </c:extLst>
            </c:dLbl>
            <c:dLbl>
              <c:idx val="3"/>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36C-49FF-8178-1D239F6E2F2B}"/>
                </c:ext>
              </c:extLst>
            </c:dLbl>
            <c:dLbl>
              <c:idx val="4"/>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36C-49FF-8178-1D239F6E2F2B}"/>
                </c:ext>
              </c:extLst>
            </c:dLbl>
            <c:dLbl>
              <c:idx val="5"/>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36C-49FF-8178-1D239F6E2F2B}"/>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Apartment</c:v>
                </c:pt>
                <c:pt idx="1">
                  <c:v>Commercial</c:v>
                </c:pt>
                <c:pt idx="2">
                  <c:v>House</c:v>
                </c:pt>
                <c:pt idx="3">
                  <c:v>Land</c:v>
                </c:pt>
                <c:pt idx="4">
                  <c:v>Unknown</c:v>
                </c:pt>
                <c:pt idx="5">
                  <c:v>Villa</c:v>
                </c:pt>
              </c:strCache>
            </c:strRef>
          </c:cat>
          <c:val>
            <c:numRef>
              <c:f>Sheet1!$B$2:$B$7</c:f>
              <c:numCache>
                <c:formatCode>General</c:formatCode>
                <c:ptCount val="6"/>
                <c:pt idx="0">
                  <c:v>96</c:v>
                </c:pt>
                <c:pt idx="1">
                  <c:v>34</c:v>
                </c:pt>
                <c:pt idx="2">
                  <c:v>59</c:v>
                </c:pt>
                <c:pt idx="3">
                  <c:v>46</c:v>
                </c:pt>
                <c:pt idx="4">
                  <c:v>20</c:v>
                </c:pt>
                <c:pt idx="5">
                  <c:v>37</c:v>
                </c:pt>
              </c:numCache>
            </c:numRef>
          </c:val>
          <c:extLst>
            <c:ext xmlns:c16="http://schemas.microsoft.com/office/drawing/2014/chart" uri="{C3380CC4-5D6E-409C-BE32-E72D297353CC}">
              <c16:uniqueId val="{0000000C-836C-49FF-8178-1D239F6E2F2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900">
              <a:solidFill>
                <a:srgbClr val="2B2B2B"/>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Average Price</c:v>
                </c:pt>
              </c:strCache>
            </c:strRef>
          </c:tx>
          <c:spPr>
            <a:solidFill>
              <a:srgbClr val="6FAD47"/>
            </a:solidFill>
            <a:effectLst/>
          </c:spPr>
          <c:invertIfNegative val="0"/>
          <c:dLbls>
            <c:numFmt formatCode="\$#,##0" sourceLinked="0"/>
            <c:spPr>
              <a:noFill/>
              <a:ln>
                <a:noFill/>
              </a:ln>
              <a:effectLst/>
            </c:spPr>
            <c:txPr>
              <a:bodyPr/>
              <a:lstStyle/>
              <a:p>
                <a:pPr>
                  <a:defRPr sz="8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Baidoa</c:v>
                </c:pt>
                <c:pt idx="1">
                  <c:v>Bosaso</c:v>
                </c:pt>
                <c:pt idx="2">
                  <c:v>Garowe</c:v>
                </c:pt>
                <c:pt idx="3">
                  <c:v>Hargeisa</c:v>
                </c:pt>
                <c:pt idx="4">
                  <c:v>Kismayo</c:v>
                </c:pt>
                <c:pt idx="5">
                  <c:v>Mogadishu</c:v>
                </c:pt>
                <c:pt idx="6">
                  <c:v>Unknown</c:v>
                </c:pt>
              </c:strCache>
            </c:strRef>
          </c:cat>
          <c:val>
            <c:numRef>
              <c:f>Sheet1!$B$2:$B$8</c:f>
              <c:numCache>
                <c:formatCode>General</c:formatCode>
                <c:ptCount val="7"/>
                <c:pt idx="0">
                  <c:v>146560.47</c:v>
                </c:pt>
                <c:pt idx="1">
                  <c:v>153062.85999999999</c:v>
                </c:pt>
                <c:pt idx="2">
                  <c:v>206753.68</c:v>
                </c:pt>
                <c:pt idx="3">
                  <c:v>157337.25</c:v>
                </c:pt>
                <c:pt idx="4">
                  <c:v>133616.89000000001</c:v>
                </c:pt>
                <c:pt idx="5">
                  <c:v>209588.11</c:v>
                </c:pt>
                <c:pt idx="6">
                  <c:v>185411.96</c:v>
                </c:pt>
              </c:numCache>
            </c:numRef>
          </c:val>
          <c:extLst>
            <c:ext xmlns:c16="http://schemas.microsoft.com/office/drawing/2014/chart" uri="{C3380CC4-5D6E-409C-BE32-E72D297353CC}">
              <c16:uniqueId val="{00000000-C19B-4A75-A856-FB7CECD5E5B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992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85724"/>
        </a:solidFill>
        <a:effectLst/>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5F943C">
              <a:alpha val="45000"/>
            </a:srgbClr>
          </a:solidFill>
          <a:ln/>
        </p:spPr>
      </p:sp>
      <p:sp>
        <p:nvSpPr>
          <p:cNvPr id="3" name="Shape 1"/>
          <p:cNvSpPr/>
          <p:nvPr/>
        </p:nvSpPr>
        <p:spPr>
          <a:xfrm>
            <a:off x="-1463040" y="4663440"/>
            <a:ext cx="3840480" cy="3840480"/>
          </a:xfrm>
          <a:prstGeom prst="ellipse">
            <a:avLst/>
          </a:prstGeom>
          <a:solidFill>
            <a:srgbClr val="6FAD47">
              <a:alpha val="40000"/>
            </a:srgbClr>
          </a:solidFill>
          <a:ln/>
        </p:spPr>
      </p:sp>
      <p:pic>
        <p:nvPicPr>
          <p:cNvPr id="4" name="Image 0" descr="/home/claude/icons/home_FFFFFF.png"/>
          <p:cNvPicPr>
            <a:picLocks noChangeAspect="1"/>
          </p:cNvPicPr>
          <p:nvPr/>
        </p:nvPicPr>
        <p:blipFill>
          <a:blip r:embed="rId3"/>
          <a:stretch>
            <a:fillRect/>
          </a:stretch>
        </p:blipFill>
        <p:spPr>
          <a:xfrm>
            <a:off x="5367528" y="1417320"/>
            <a:ext cx="1463040" cy="1463040"/>
          </a:xfrm>
          <a:prstGeom prst="rect">
            <a:avLst/>
          </a:prstGeom>
        </p:spPr>
      </p:pic>
      <p:sp>
        <p:nvSpPr>
          <p:cNvPr id="5" name="Text 2"/>
          <p:cNvSpPr/>
          <p:nvPr/>
        </p:nvSpPr>
        <p:spPr>
          <a:xfrm>
            <a:off x="731520" y="3063240"/>
            <a:ext cx="10725912" cy="548640"/>
          </a:xfrm>
          <a:prstGeom prst="rect">
            <a:avLst/>
          </a:prstGeom>
          <a:noFill/>
          <a:ln/>
        </p:spPr>
        <p:txBody>
          <a:bodyPr wrap="square" rtlCol="0" anchor="ctr"/>
          <a:lstStyle/>
          <a:p>
            <a:pPr marL="0" indent="0" algn="ctr">
              <a:buNone/>
            </a:pPr>
            <a:r>
              <a:rPr lang="en-US" sz="4000" b="1" dirty="0">
                <a:solidFill>
                  <a:srgbClr val="FFFFFF"/>
                </a:solidFill>
                <a:latin typeface="Times New Roman" pitchFamily="34" charset="0"/>
                <a:ea typeface="Times New Roman" pitchFamily="34" charset="-122"/>
                <a:cs typeface="Times New Roman" pitchFamily="34" charset="-120"/>
              </a:rPr>
              <a:t>REAL ESTATE PROPERTY</a:t>
            </a:r>
            <a:endParaRPr lang="en-US" sz="4000" dirty="0"/>
          </a:p>
        </p:txBody>
      </p:sp>
      <p:sp>
        <p:nvSpPr>
          <p:cNvPr id="6" name="Text 3"/>
          <p:cNvSpPr/>
          <p:nvPr/>
        </p:nvSpPr>
        <p:spPr>
          <a:xfrm>
            <a:off x="731520" y="3611880"/>
            <a:ext cx="10725912" cy="548640"/>
          </a:xfrm>
          <a:prstGeom prst="rect">
            <a:avLst/>
          </a:prstGeom>
          <a:noFill/>
          <a:ln/>
        </p:spPr>
        <p:txBody>
          <a:bodyPr wrap="square" rtlCol="0" anchor="ctr"/>
          <a:lstStyle/>
          <a:p>
            <a:pPr marL="0" indent="0" algn="ctr">
              <a:buNone/>
            </a:pPr>
            <a:r>
              <a:rPr lang="en-US" sz="4000" b="1" dirty="0">
                <a:solidFill>
                  <a:srgbClr val="FFFFFF"/>
                </a:solidFill>
                <a:latin typeface="Times New Roman" pitchFamily="34" charset="0"/>
                <a:ea typeface="Times New Roman" pitchFamily="34" charset="-122"/>
                <a:cs typeface="Times New Roman" pitchFamily="34" charset="-120"/>
              </a:rPr>
              <a:t>DATA ANALYSIS</a:t>
            </a:r>
            <a:endParaRPr lang="en-US" sz="4000" dirty="0"/>
          </a:p>
        </p:txBody>
      </p:sp>
      <p:sp>
        <p:nvSpPr>
          <p:cNvPr id="7" name="Text 4"/>
          <p:cNvSpPr/>
          <p:nvPr/>
        </p:nvSpPr>
        <p:spPr>
          <a:xfrm>
            <a:off x="731520" y="4343400"/>
            <a:ext cx="10725912" cy="365760"/>
          </a:xfrm>
          <a:prstGeom prst="rect">
            <a:avLst/>
          </a:prstGeom>
          <a:noFill/>
          <a:ln/>
        </p:spPr>
        <p:txBody>
          <a:bodyPr wrap="square" rtlCol="0" anchor="ctr"/>
          <a:lstStyle/>
          <a:p>
            <a:pPr marL="0" indent="0" algn="ctr">
              <a:buNone/>
            </a:pPr>
            <a:r>
              <a:rPr lang="en-US" sz="1600" i="1" dirty="0">
                <a:solidFill>
                  <a:srgbClr val="CBDDC4"/>
                </a:solidFill>
                <a:latin typeface="Calibri" pitchFamily="34" charset="0"/>
                <a:ea typeface="Calibri" pitchFamily="34" charset="-122"/>
                <a:cs typeface="Calibri" pitchFamily="34" charset="-120"/>
              </a:rPr>
              <a:t>Real Estate Data Analysis</a:t>
            </a:r>
            <a:endParaRPr lang="en-US" sz="1600" dirty="0"/>
          </a:p>
        </p:txBody>
      </p:sp>
      <p:sp>
        <p:nvSpPr>
          <p:cNvPr id="8" name="Shape 5"/>
          <p:cNvSpPr/>
          <p:nvPr/>
        </p:nvSpPr>
        <p:spPr>
          <a:xfrm>
            <a:off x="5175504" y="4892040"/>
            <a:ext cx="1828800" cy="0"/>
          </a:xfrm>
          <a:prstGeom prst="line">
            <a:avLst/>
          </a:prstGeom>
          <a:noFill/>
          <a:ln w="19050">
            <a:solidFill>
              <a:srgbClr val="6FAD47"/>
            </a:solidFill>
            <a:prstDash val="solid"/>
          </a:ln>
        </p:spPr>
      </p:sp>
      <p:sp>
        <p:nvSpPr>
          <p:cNvPr id="9" name="Text 6"/>
          <p:cNvSpPr/>
          <p:nvPr/>
        </p:nvSpPr>
        <p:spPr>
          <a:xfrm>
            <a:off x="731520" y="5029200"/>
            <a:ext cx="10725912"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Date: 25 August 2026</a:t>
            </a:r>
            <a:endParaRPr lang="en-US" sz="1300" dirty="0"/>
          </a:p>
        </p:txBody>
      </p:sp>
      <p:sp>
        <p:nvSpPr>
          <p:cNvPr id="10" name="Text 7"/>
          <p:cNvSpPr/>
          <p:nvPr/>
        </p:nvSpPr>
        <p:spPr>
          <a:xfrm>
            <a:off x="11274552" y="6400800"/>
            <a:ext cx="731520" cy="274320"/>
          </a:xfrm>
          <a:prstGeom prst="rect">
            <a:avLst/>
          </a:prstGeom>
          <a:noFill/>
          <a:ln/>
        </p:spPr>
        <p:txBody>
          <a:bodyPr wrap="square" rtlCol="0" anchor="ctr"/>
          <a:lstStyle/>
          <a:p>
            <a:pPr marL="0" indent="0" algn="r">
              <a:buNone/>
            </a:pPr>
            <a:r>
              <a:rPr lang="en-US" sz="1000" dirty="0">
                <a:solidFill>
                  <a:srgbClr val="CBDDC4"/>
                </a:solidFill>
                <a:latin typeface="Calibri" pitchFamily="34" charset="0"/>
                <a:ea typeface="Calibri" pitchFamily="34" charset="-122"/>
                <a:cs typeface="Calibri" pitchFamily="34" charset="-120"/>
              </a:rPr>
              <a:t>1/10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Project Overview</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What this project is about</a:t>
            </a:r>
            <a:endParaRPr lang="en-US" sz="1300" dirty="0"/>
          </a:p>
        </p:txBody>
      </p:sp>
      <p:sp>
        <p:nvSpPr>
          <p:cNvPr id="5" name="Text 3"/>
          <p:cNvSpPr/>
          <p:nvPr/>
        </p:nvSpPr>
        <p:spPr>
          <a:xfrm>
            <a:off x="502920" y="1325880"/>
            <a:ext cx="6126480" cy="1828800"/>
          </a:xfrm>
          <a:prstGeom prst="rect">
            <a:avLst/>
          </a:prstGeom>
          <a:noFill/>
          <a:ln/>
        </p:spPr>
        <p:txBody>
          <a:bodyPr wrap="square" rtlCol="0" anchor="t"/>
          <a:lstStyle/>
          <a:p>
            <a:pPr marL="0" indent="0">
              <a:lnSpc>
                <a:spcPct val="125000"/>
              </a:lnSpc>
              <a:buNone/>
            </a:pPr>
            <a:r>
              <a:rPr lang="en-US" sz="1400" dirty="0">
                <a:solidFill>
                  <a:srgbClr val="2B2B2B"/>
                </a:solidFill>
                <a:latin typeface="Calibri" pitchFamily="34" charset="0"/>
                <a:ea typeface="Calibri" pitchFamily="34" charset="-122"/>
                <a:cs typeface="Calibri" pitchFamily="34" charset="-120"/>
              </a:rPr>
              <a:t>This project analyzes property listing data to understand Somalia's real estate market. </a:t>
            </a:r>
            <a:endParaRPr lang="en-US" sz="1400" dirty="0"/>
          </a:p>
          <a:p>
            <a:pPr marL="0" indent="0">
              <a:lnSpc>
                <a:spcPct val="125000"/>
              </a:lnSpc>
              <a:buNone/>
            </a:pPr>
            <a:r>
              <a:rPr lang="en-US" sz="1400" dirty="0">
                <a:solidFill>
                  <a:srgbClr val="2B2B2B"/>
                </a:solidFill>
                <a:latin typeface="Calibri" pitchFamily="34" charset="0"/>
                <a:ea typeface="Calibri" pitchFamily="34" charset="-122"/>
                <a:cs typeface="Calibri" pitchFamily="34" charset="-120"/>
              </a:rPr>
              <a:t>The goal is to see how property type, location, size, bedrooms and price relate to each other, and how much the raw data needed to be cleaned before it could be trusted.</a:t>
            </a:r>
            <a:endParaRPr lang="en-US" sz="1400" dirty="0"/>
          </a:p>
        </p:txBody>
      </p:sp>
      <p:sp>
        <p:nvSpPr>
          <p:cNvPr id="6" name="Text 4"/>
          <p:cNvSpPr/>
          <p:nvPr/>
        </p:nvSpPr>
        <p:spPr>
          <a:xfrm>
            <a:off x="502920" y="3063240"/>
            <a:ext cx="6126480" cy="365760"/>
          </a:xfrm>
          <a:prstGeom prst="rect">
            <a:avLst/>
          </a:prstGeom>
          <a:noFill/>
          <a:ln/>
        </p:spPr>
        <p:txBody>
          <a:bodyPr wrap="square" rtlCol="0" anchor="ctr"/>
          <a:lstStyle/>
          <a:p>
            <a:pPr marL="0" indent="0">
              <a:buNone/>
            </a:pPr>
            <a:r>
              <a:rPr lang="en-US" sz="1400" b="1" dirty="0">
                <a:solidFill>
                  <a:srgbClr val="385724"/>
                </a:solidFill>
                <a:latin typeface="Calibri" pitchFamily="34" charset="0"/>
                <a:ea typeface="Calibri" pitchFamily="34" charset="-122"/>
                <a:cs typeface="Calibri" pitchFamily="34" charset="-120"/>
              </a:rPr>
              <a:t>The analysis focuses on six main areas:</a:t>
            </a:r>
            <a:endParaRPr lang="en-US" sz="1400" dirty="0"/>
          </a:p>
        </p:txBody>
      </p:sp>
      <p:sp>
        <p:nvSpPr>
          <p:cNvPr id="7" name="Shape 5"/>
          <p:cNvSpPr/>
          <p:nvPr/>
        </p:nvSpPr>
        <p:spPr>
          <a:xfrm>
            <a:off x="502920" y="3520440"/>
            <a:ext cx="2926080" cy="822960"/>
          </a:xfrm>
          <a:prstGeom prst="roundRect">
            <a:avLst>
              <a:gd name="adj" fmla="val 8889"/>
            </a:avLst>
          </a:prstGeom>
          <a:solidFill>
            <a:srgbClr val="EEF4EA"/>
          </a:solidFill>
          <a:ln w="12700">
            <a:solidFill>
              <a:srgbClr val="CBDDC4"/>
            </a:solidFill>
            <a:prstDash val="solid"/>
          </a:ln>
        </p:spPr>
      </p:sp>
      <p:sp>
        <p:nvSpPr>
          <p:cNvPr id="8" name="Text 6"/>
          <p:cNvSpPr/>
          <p:nvPr/>
        </p:nvSpPr>
        <p:spPr>
          <a:xfrm>
            <a:off x="640080" y="3593592"/>
            <a:ext cx="2651760" cy="292608"/>
          </a:xfrm>
          <a:prstGeom prst="rect">
            <a:avLst/>
          </a:prstGeom>
          <a:noFill/>
          <a:ln/>
        </p:spPr>
        <p:txBody>
          <a:bodyPr wrap="square" rtlCol="0" anchor="ctr"/>
          <a:lstStyle/>
          <a:p>
            <a:pPr marL="0" indent="0">
              <a:buNone/>
            </a:pPr>
            <a:r>
              <a:rPr lang="en-US" sz="1250" b="1" dirty="0">
                <a:solidFill>
                  <a:srgbClr val="385724"/>
                </a:solidFill>
                <a:latin typeface="Calibri" pitchFamily="34" charset="0"/>
                <a:ea typeface="Calibri" pitchFamily="34" charset="-122"/>
                <a:cs typeface="Calibri" pitchFamily="34" charset="-120"/>
              </a:rPr>
              <a:t>Property Type</a:t>
            </a:r>
            <a:endParaRPr lang="en-US" sz="1250" dirty="0"/>
          </a:p>
        </p:txBody>
      </p:sp>
      <p:sp>
        <p:nvSpPr>
          <p:cNvPr id="9" name="Text 7"/>
          <p:cNvSpPr/>
          <p:nvPr/>
        </p:nvSpPr>
        <p:spPr>
          <a:xfrm>
            <a:off x="640080" y="3886200"/>
            <a:ext cx="2651760" cy="38404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Apartment, House, Villa, Land, Commercial</a:t>
            </a:r>
            <a:endParaRPr lang="en-US" sz="1050" dirty="0"/>
          </a:p>
        </p:txBody>
      </p:sp>
      <p:sp>
        <p:nvSpPr>
          <p:cNvPr id="10" name="Shape 8"/>
          <p:cNvSpPr/>
          <p:nvPr/>
        </p:nvSpPr>
        <p:spPr>
          <a:xfrm>
            <a:off x="3657600" y="3520440"/>
            <a:ext cx="2926080" cy="822960"/>
          </a:xfrm>
          <a:prstGeom prst="roundRect">
            <a:avLst>
              <a:gd name="adj" fmla="val 8889"/>
            </a:avLst>
          </a:prstGeom>
          <a:solidFill>
            <a:srgbClr val="EEF4EA"/>
          </a:solidFill>
          <a:ln w="12700">
            <a:solidFill>
              <a:srgbClr val="CBDDC4"/>
            </a:solidFill>
            <a:prstDash val="solid"/>
          </a:ln>
        </p:spPr>
      </p:sp>
      <p:sp>
        <p:nvSpPr>
          <p:cNvPr id="11" name="Text 9"/>
          <p:cNvSpPr/>
          <p:nvPr/>
        </p:nvSpPr>
        <p:spPr>
          <a:xfrm>
            <a:off x="3794760" y="3593592"/>
            <a:ext cx="2651760" cy="292608"/>
          </a:xfrm>
          <a:prstGeom prst="rect">
            <a:avLst/>
          </a:prstGeom>
          <a:noFill/>
          <a:ln/>
        </p:spPr>
        <p:txBody>
          <a:bodyPr wrap="square" rtlCol="0" anchor="ctr"/>
          <a:lstStyle/>
          <a:p>
            <a:pPr marL="0" indent="0">
              <a:buNone/>
            </a:pPr>
            <a:r>
              <a:rPr lang="en-US" sz="1250" b="1" dirty="0">
                <a:solidFill>
                  <a:srgbClr val="385724"/>
                </a:solidFill>
                <a:latin typeface="Calibri" pitchFamily="34" charset="0"/>
                <a:ea typeface="Calibri" pitchFamily="34" charset="-122"/>
                <a:cs typeface="Calibri" pitchFamily="34" charset="-120"/>
              </a:rPr>
              <a:t>Location</a:t>
            </a:r>
            <a:endParaRPr lang="en-US" sz="1250" dirty="0"/>
          </a:p>
        </p:txBody>
      </p:sp>
      <p:sp>
        <p:nvSpPr>
          <p:cNvPr id="12" name="Text 10"/>
          <p:cNvSpPr/>
          <p:nvPr/>
        </p:nvSpPr>
        <p:spPr>
          <a:xfrm>
            <a:off x="3794760" y="3886200"/>
            <a:ext cx="2651760" cy="38404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7 cities including Mogadishu, Hargeisa, Bosaso</a:t>
            </a:r>
            <a:endParaRPr lang="en-US" sz="1050" dirty="0"/>
          </a:p>
        </p:txBody>
      </p:sp>
      <p:sp>
        <p:nvSpPr>
          <p:cNvPr id="13" name="Shape 11"/>
          <p:cNvSpPr/>
          <p:nvPr/>
        </p:nvSpPr>
        <p:spPr>
          <a:xfrm>
            <a:off x="502920" y="4507992"/>
            <a:ext cx="2926080" cy="822960"/>
          </a:xfrm>
          <a:prstGeom prst="roundRect">
            <a:avLst>
              <a:gd name="adj" fmla="val 8889"/>
            </a:avLst>
          </a:prstGeom>
          <a:solidFill>
            <a:srgbClr val="EEF4EA"/>
          </a:solidFill>
          <a:ln w="12700">
            <a:solidFill>
              <a:srgbClr val="CBDDC4"/>
            </a:solidFill>
            <a:prstDash val="solid"/>
          </a:ln>
        </p:spPr>
      </p:sp>
      <p:sp>
        <p:nvSpPr>
          <p:cNvPr id="14" name="Text 12"/>
          <p:cNvSpPr/>
          <p:nvPr/>
        </p:nvSpPr>
        <p:spPr>
          <a:xfrm>
            <a:off x="640080" y="4581144"/>
            <a:ext cx="2651760" cy="292608"/>
          </a:xfrm>
          <a:prstGeom prst="rect">
            <a:avLst/>
          </a:prstGeom>
          <a:noFill/>
          <a:ln/>
        </p:spPr>
        <p:txBody>
          <a:bodyPr wrap="square" rtlCol="0" anchor="ctr"/>
          <a:lstStyle/>
          <a:p>
            <a:pPr marL="0" indent="0">
              <a:buNone/>
            </a:pPr>
            <a:r>
              <a:rPr lang="en-US" sz="1250" b="1" dirty="0">
                <a:solidFill>
                  <a:srgbClr val="385724"/>
                </a:solidFill>
                <a:latin typeface="Calibri" pitchFamily="34" charset="0"/>
                <a:ea typeface="Calibri" pitchFamily="34" charset="-122"/>
                <a:cs typeface="Calibri" pitchFamily="34" charset="-120"/>
              </a:rPr>
              <a:t>Property Size</a:t>
            </a:r>
            <a:endParaRPr lang="en-US" sz="1250" dirty="0"/>
          </a:p>
        </p:txBody>
      </p:sp>
      <p:sp>
        <p:nvSpPr>
          <p:cNvPr id="15" name="Text 13"/>
          <p:cNvSpPr/>
          <p:nvPr/>
        </p:nvSpPr>
        <p:spPr>
          <a:xfrm>
            <a:off x="640080" y="4873752"/>
            <a:ext cx="2651760" cy="38404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Size in square metres (Sqm)</a:t>
            </a:r>
            <a:endParaRPr lang="en-US" sz="1050" dirty="0"/>
          </a:p>
        </p:txBody>
      </p:sp>
      <p:sp>
        <p:nvSpPr>
          <p:cNvPr id="16" name="Shape 14"/>
          <p:cNvSpPr/>
          <p:nvPr/>
        </p:nvSpPr>
        <p:spPr>
          <a:xfrm>
            <a:off x="3657600" y="4507992"/>
            <a:ext cx="2926080" cy="822960"/>
          </a:xfrm>
          <a:prstGeom prst="roundRect">
            <a:avLst>
              <a:gd name="adj" fmla="val 8889"/>
            </a:avLst>
          </a:prstGeom>
          <a:solidFill>
            <a:srgbClr val="EEF4EA"/>
          </a:solidFill>
          <a:ln w="12700">
            <a:solidFill>
              <a:srgbClr val="CBDDC4"/>
            </a:solidFill>
            <a:prstDash val="solid"/>
          </a:ln>
        </p:spPr>
      </p:sp>
      <p:sp>
        <p:nvSpPr>
          <p:cNvPr id="17" name="Text 15"/>
          <p:cNvSpPr/>
          <p:nvPr/>
        </p:nvSpPr>
        <p:spPr>
          <a:xfrm>
            <a:off x="3794760" y="4581144"/>
            <a:ext cx="2651760" cy="292608"/>
          </a:xfrm>
          <a:prstGeom prst="rect">
            <a:avLst/>
          </a:prstGeom>
          <a:noFill/>
          <a:ln/>
        </p:spPr>
        <p:txBody>
          <a:bodyPr wrap="square" rtlCol="0" anchor="ctr"/>
          <a:lstStyle/>
          <a:p>
            <a:pPr marL="0" indent="0">
              <a:buNone/>
            </a:pPr>
            <a:r>
              <a:rPr lang="en-US" sz="1250" b="1" dirty="0">
                <a:solidFill>
                  <a:srgbClr val="385724"/>
                </a:solidFill>
                <a:latin typeface="Calibri" pitchFamily="34" charset="0"/>
                <a:ea typeface="Calibri" pitchFamily="34" charset="-122"/>
                <a:cs typeface="Calibri" pitchFamily="34" charset="-120"/>
              </a:rPr>
              <a:t>Bedrooms</a:t>
            </a:r>
            <a:endParaRPr lang="en-US" sz="1250" dirty="0"/>
          </a:p>
        </p:txBody>
      </p:sp>
      <p:sp>
        <p:nvSpPr>
          <p:cNvPr id="18" name="Text 16"/>
          <p:cNvSpPr/>
          <p:nvPr/>
        </p:nvSpPr>
        <p:spPr>
          <a:xfrm>
            <a:off x="3794760" y="4873752"/>
            <a:ext cx="2651760" cy="38404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Number of bedrooms per property</a:t>
            </a:r>
            <a:endParaRPr lang="en-US" sz="1050" dirty="0"/>
          </a:p>
        </p:txBody>
      </p:sp>
      <p:sp>
        <p:nvSpPr>
          <p:cNvPr id="19" name="Shape 17"/>
          <p:cNvSpPr/>
          <p:nvPr/>
        </p:nvSpPr>
        <p:spPr>
          <a:xfrm>
            <a:off x="502920" y="5495544"/>
            <a:ext cx="2926080" cy="822960"/>
          </a:xfrm>
          <a:prstGeom prst="roundRect">
            <a:avLst>
              <a:gd name="adj" fmla="val 8889"/>
            </a:avLst>
          </a:prstGeom>
          <a:solidFill>
            <a:srgbClr val="EEF4EA"/>
          </a:solidFill>
          <a:ln w="12700">
            <a:solidFill>
              <a:srgbClr val="CBDDC4"/>
            </a:solidFill>
            <a:prstDash val="solid"/>
          </a:ln>
        </p:spPr>
      </p:sp>
      <p:sp>
        <p:nvSpPr>
          <p:cNvPr id="20" name="Text 18"/>
          <p:cNvSpPr/>
          <p:nvPr/>
        </p:nvSpPr>
        <p:spPr>
          <a:xfrm>
            <a:off x="640080" y="5568696"/>
            <a:ext cx="2651760" cy="292608"/>
          </a:xfrm>
          <a:prstGeom prst="rect">
            <a:avLst/>
          </a:prstGeom>
          <a:noFill/>
          <a:ln/>
        </p:spPr>
        <p:txBody>
          <a:bodyPr wrap="square" rtlCol="0" anchor="ctr"/>
          <a:lstStyle/>
          <a:p>
            <a:pPr marL="0" indent="0">
              <a:buNone/>
            </a:pPr>
            <a:r>
              <a:rPr lang="en-US" sz="1250" b="1" dirty="0">
                <a:solidFill>
                  <a:srgbClr val="385724"/>
                </a:solidFill>
                <a:latin typeface="Calibri" pitchFamily="34" charset="0"/>
                <a:ea typeface="Calibri" pitchFamily="34" charset="-122"/>
                <a:cs typeface="Calibri" pitchFamily="34" charset="-120"/>
              </a:rPr>
              <a:t>Price</a:t>
            </a:r>
            <a:endParaRPr lang="en-US" sz="1250" dirty="0"/>
          </a:p>
        </p:txBody>
      </p:sp>
      <p:sp>
        <p:nvSpPr>
          <p:cNvPr id="21" name="Text 19"/>
          <p:cNvSpPr/>
          <p:nvPr/>
        </p:nvSpPr>
        <p:spPr>
          <a:xfrm>
            <a:off x="640080" y="5861304"/>
            <a:ext cx="2651760" cy="38404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Listing price in USD</a:t>
            </a:r>
            <a:endParaRPr lang="en-US" sz="1050" dirty="0"/>
          </a:p>
        </p:txBody>
      </p:sp>
      <p:sp>
        <p:nvSpPr>
          <p:cNvPr id="22" name="Shape 20"/>
          <p:cNvSpPr/>
          <p:nvPr/>
        </p:nvSpPr>
        <p:spPr>
          <a:xfrm>
            <a:off x="3657600" y="5495544"/>
            <a:ext cx="2926080" cy="822960"/>
          </a:xfrm>
          <a:prstGeom prst="roundRect">
            <a:avLst>
              <a:gd name="adj" fmla="val 8889"/>
            </a:avLst>
          </a:prstGeom>
          <a:solidFill>
            <a:srgbClr val="EEF4EA"/>
          </a:solidFill>
          <a:ln w="12700">
            <a:solidFill>
              <a:srgbClr val="CBDDC4"/>
            </a:solidFill>
            <a:prstDash val="solid"/>
          </a:ln>
        </p:spPr>
      </p:sp>
      <p:sp>
        <p:nvSpPr>
          <p:cNvPr id="23" name="Text 21"/>
          <p:cNvSpPr/>
          <p:nvPr/>
        </p:nvSpPr>
        <p:spPr>
          <a:xfrm>
            <a:off x="3794760" y="5568696"/>
            <a:ext cx="2651760" cy="292608"/>
          </a:xfrm>
          <a:prstGeom prst="rect">
            <a:avLst/>
          </a:prstGeom>
          <a:noFill/>
          <a:ln/>
        </p:spPr>
        <p:txBody>
          <a:bodyPr wrap="square" rtlCol="0" anchor="ctr"/>
          <a:lstStyle/>
          <a:p>
            <a:pPr marL="0" indent="0">
              <a:buNone/>
            </a:pPr>
            <a:r>
              <a:rPr lang="en-US" sz="1250" b="1" dirty="0">
                <a:solidFill>
                  <a:srgbClr val="385724"/>
                </a:solidFill>
                <a:latin typeface="Calibri" pitchFamily="34" charset="0"/>
                <a:ea typeface="Calibri" pitchFamily="34" charset="-122"/>
                <a:cs typeface="Calibri" pitchFamily="34" charset="-120"/>
              </a:rPr>
              <a:t>Data Quality</a:t>
            </a:r>
            <a:endParaRPr lang="en-US" sz="1250" dirty="0"/>
          </a:p>
        </p:txBody>
      </p:sp>
      <p:sp>
        <p:nvSpPr>
          <p:cNvPr id="24" name="Text 22"/>
          <p:cNvSpPr/>
          <p:nvPr/>
        </p:nvSpPr>
        <p:spPr>
          <a:xfrm>
            <a:off x="3794760" y="5861304"/>
            <a:ext cx="2651760" cy="38404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Duplicates, missing values, inconsistent entries</a:t>
            </a:r>
            <a:endParaRPr lang="en-US" sz="1050" dirty="0"/>
          </a:p>
        </p:txBody>
      </p:sp>
      <p:sp>
        <p:nvSpPr>
          <p:cNvPr id="25" name="Shape 23"/>
          <p:cNvSpPr/>
          <p:nvPr/>
        </p:nvSpPr>
        <p:spPr>
          <a:xfrm>
            <a:off x="7040880" y="1325880"/>
            <a:ext cx="4663440" cy="4846320"/>
          </a:xfrm>
          <a:prstGeom prst="roundRect">
            <a:avLst>
              <a:gd name="adj" fmla="val 1961"/>
            </a:avLst>
          </a:prstGeom>
          <a:solidFill>
            <a:srgbClr val="385724"/>
          </a:solidFill>
          <a:ln/>
        </p:spPr>
      </p:sp>
      <p:pic>
        <p:nvPicPr>
          <p:cNvPr id="26" name="Image 0" descr="/home/claude/icons/building_FFFFFF.png"/>
          <p:cNvPicPr>
            <a:picLocks noChangeAspect="1"/>
          </p:cNvPicPr>
          <p:nvPr/>
        </p:nvPicPr>
        <p:blipFill>
          <a:blip r:embed="rId3"/>
          <a:stretch>
            <a:fillRect/>
          </a:stretch>
        </p:blipFill>
        <p:spPr>
          <a:xfrm>
            <a:off x="8915400" y="1691640"/>
            <a:ext cx="914400" cy="914400"/>
          </a:xfrm>
          <a:prstGeom prst="rect">
            <a:avLst/>
          </a:prstGeom>
        </p:spPr>
      </p:pic>
      <p:sp>
        <p:nvSpPr>
          <p:cNvPr id="27" name="Text 24"/>
          <p:cNvSpPr/>
          <p:nvPr/>
        </p:nvSpPr>
        <p:spPr>
          <a:xfrm>
            <a:off x="7040880" y="2697480"/>
            <a:ext cx="4663440" cy="822960"/>
          </a:xfrm>
          <a:prstGeom prst="rect">
            <a:avLst/>
          </a:prstGeom>
          <a:noFill/>
          <a:ln/>
        </p:spPr>
        <p:txBody>
          <a:bodyPr wrap="square" rtlCol="0" anchor="ctr"/>
          <a:lstStyle/>
          <a:p>
            <a:pPr marL="0" indent="0" algn="ctr">
              <a:buNone/>
            </a:pPr>
            <a:r>
              <a:rPr lang="en-US" sz="5400" b="1" dirty="0">
                <a:solidFill>
                  <a:srgbClr val="FFFFFF"/>
                </a:solidFill>
                <a:latin typeface="Times New Roman" pitchFamily="34" charset="0"/>
                <a:ea typeface="Times New Roman" pitchFamily="34" charset="-122"/>
                <a:cs typeface="Times New Roman" pitchFamily="34" charset="-120"/>
              </a:rPr>
              <a:t>292</a:t>
            </a:r>
            <a:endParaRPr lang="en-US" sz="5400" dirty="0"/>
          </a:p>
        </p:txBody>
      </p:sp>
      <p:sp>
        <p:nvSpPr>
          <p:cNvPr id="28" name="Text 25"/>
          <p:cNvSpPr/>
          <p:nvPr/>
        </p:nvSpPr>
        <p:spPr>
          <a:xfrm>
            <a:off x="7406640" y="3474720"/>
            <a:ext cx="3931920" cy="457200"/>
          </a:xfrm>
          <a:prstGeom prst="rect">
            <a:avLst/>
          </a:prstGeom>
          <a:noFill/>
          <a:ln/>
        </p:spPr>
        <p:txBody>
          <a:bodyPr wrap="square" rtlCol="0" anchor="ctr"/>
          <a:lstStyle/>
          <a:p>
            <a:pPr marL="0" indent="0" algn="ctr">
              <a:buNone/>
            </a:pPr>
            <a:r>
              <a:rPr lang="en-US" sz="1300" dirty="0">
                <a:solidFill>
                  <a:srgbClr val="CBDDC4"/>
                </a:solidFill>
                <a:latin typeface="Calibri" pitchFamily="34" charset="0"/>
                <a:ea typeface="Calibri" pitchFamily="34" charset="-122"/>
                <a:cs typeface="Calibri" pitchFamily="34" charset="-120"/>
              </a:rPr>
              <a:t>clean property records analyzed</a:t>
            </a:r>
            <a:endParaRPr lang="en-US" sz="1300" dirty="0"/>
          </a:p>
        </p:txBody>
      </p:sp>
      <p:sp>
        <p:nvSpPr>
          <p:cNvPr id="29" name="Shape 26"/>
          <p:cNvSpPr/>
          <p:nvPr/>
        </p:nvSpPr>
        <p:spPr>
          <a:xfrm>
            <a:off x="7406640" y="4160520"/>
            <a:ext cx="3931920" cy="0"/>
          </a:xfrm>
          <a:prstGeom prst="line">
            <a:avLst/>
          </a:prstGeom>
          <a:noFill/>
          <a:ln w="12700">
            <a:solidFill>
              <a:srgbClr val="6FAD47"/>
            </a:solidFill>
            <a:prstDash val="solid"/>
          </a:ln>
        </p:spPr>
      </p:sp>
      <p:sp>
        <p:nvSpPr>
          <p:cNvPr id="30" name="Text 27"/>
          <p:cNvSpPr/>
          <p:nvPr/>
        </p:nvSpPr>
        <p:spPr>
          <a:xfrm>
            <a:off x="7406640" y="4343400"/>
            <a:ext cx="393192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Why analyze this data?</a:t>
            </a:r>
            <a:endParaRPr lang="en-US" sz="1250" dirty="0"/>
          </a:p>
        </p:txBody>
      </p:sp>
      <p:sp>
        <p:nvSpPr>
          <p:cNvPr id="31" name="Text 28"/>
          <p:cNvSpPr/>
          <p:nvPr/>
        </p:nvSpPr>
        <p:spPr>
          <a:xfrm>
            <a:off x="7406640" y="4663440"/>
            <a:ext cx="3931920" cy="1280160"/>
          </a:xfrm>
          <a:prstGeom prst="rect">
            <a:avLst/>
          </a:prstGeom>
          <a:noFill/>
          <a:ln/>
        </p:spPr>
        <p:txBody>
          <a:bodyPr wrap="square" rtlCol="0" anchor="ctr"/>
          <a:lstStyle/>
          <a:p>
            <a:pPr marL="0" indent="0">
              <a:lnSpc>
                <a:spcPct val="120000"/>
              </a:lnSpc>
              <a:buNone/>
            </a:pPr>
            <a:r>
              <a:rPr lang="en-US" sz="1100" dirty="0">
                <a:solidFill>
                  <a:srgbClr val="CBDDC4"/>
                </a:solidFill>
                <a:latin typeface="Calibri" pitchFamily="34" charset="0"/>
                <a:ea typeface="Calibri" pitchFamily="34" charset="-122"/>
                <a:cs typeface="Calibri" pitchFamily="34" charset="-120"/>
              </a:rPr>
              <a:t>To understand where properties are concentrated, what they typically cost, and how reliable the underlying data is for future decisions.</a:t>
            </a:r>
            <a:endParaRPr lang="en-US" sz="1100" dirty="0"/>
          </a:p>
        </p:txBody>
      </p:sp>
      <p:sp>
        <p:nvSpPr>
          <p:cNvPr id="32" name="Text 29"/>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2/10</a:t>
            </a:r>
            <a:endParaRPr lang="en-US" sz="1000" dirty="0"/>
          </a:p>
        </p:txBody>
      </p:sp>
      <p:sp>
        <p:nvSpPr>
          <p:cNvPr id="33" name="Text 30"/>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Dataset Structure</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Columns and record counts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400800" cy="4389120"/>
        </p:xfrm>
        <a:graphic>
          <a:graphicData uri="http://schemas.openxmlformats.org/drawingml/2006/table">
            <a:tbl>
              <a:tblPr/>
              <a:tblGrid>
                <a:gridCol w="2103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5486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Column</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38572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385724"/>
                    </a:solidFill>
                  </a:tcPr>
                </a:tc>
                <a:extLst>
                  <a:ext uri="{0D108BD9-81ED-4DB2-BD59-A6C34878D82A}">
                    <a16:rowId xmlns:a16="http://schemas.microsoft.com/office/drawing/2014/main" val="10000"/>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Property_ID</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Unique ID for each property</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Listing_Date</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Date the property was listed</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Property_Type</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Apartment, House, Villa, Land, Commercial</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Location</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City where the property is located</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Size_Sqm</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Property size in square metres</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Bedrooms</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Number of bedrooms</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640">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EEF4EA"/>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Listing price in USD</a:t>
                      </a:r>
                      <a:endParaRPr lang="en-US" sz="1150" dirty="0">
                        <a:latin typeface="Calibri" charset="0"/>
                        <a:ea typeface="Calibri" charset="0"/>
                        <a:cs typeface="Calibri" charset="0"/>
                      </a:endParaRPr>
                    </a:p>
                  </a:txBody>
                  <a:tcPr>
                    <a:lnL w="9525" cap="flat" cmpd="sng" algn="ctr">
                      <a:solidFill>
                        <a:srgbClr val="CBDDC4"/>
                      </a:solidFill>
                      <a:prstDash val="solid"/>
                      <a:round/>
                      <a:headEnd type="none" w="med" len="med"/>
                      <a:tailEnd type="none" w="med" len="med"/>
                    </a:lnL>
                    <a:lnR w="9525" cap="flat" cmpd="sng" algn="ctr">
                      <a:solidFill>
                        <a:srgbClr val="CBDDC4"/>
                      </a:solidFill>
                      <a:prstDash val="solid"/>
                      <a:round/>
                      <a:headEnd type="none" w="med" len="med"/>
                      <a:tailEnd type="none" w="med" len="med"/>
                    </a:lnR>
                    <a:lnT w="9525" cap="flat" cmpd="sng" algn="ctr">
                      <a:solidFill>
                        <a:srgbClr val="CBDDC4"/>
                      </a:solidFill>
                      <a:prstDash val="solid"/>
                      <a:round/>
                      <a:headEnd type="none" w="med" len="med"/>
                      <a:tailEnd type="none" w="med" len="med"/>
                    </a:lnT>
                    <a:lnB w="9525" cap="flat" cmpd="sng" algn="ctr">
                      <a:solidFill>
                        <a:srgbClr val="CBDDC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7223760" y="1371600"/>
            <a:ext cx="4480560" cy="1965960"/>
          </a:xfrm>
          <a:prstGeom prst="roundRect">
            <a:avLst>
              <a:gd name="adj" fmla="val 4651"/>
            </a:avLst>
          </a:prstGeom>
          <a:solidFill>
            <a:srgbClr val="EEF4EA"/>
          </a:solidFill>
          <a:ln w="12700">
            <a:solidFill>
              <a:srgbClr val="CBDDC4"/>
            </a:solidFill>
            <a:prstDash val="solid"/>
          </a:ln>
        </p:spPr>
      </p:sp>
      <p:sp>
        <p:nvSpPr>
          <p:cNvPr id="7" name="Text 4"/>
          <p:cNvSpPr/>
          <p:nvPr/>
        </p:nvSpPr>
        <p:spPr>
          <a:xfrm>
            <a:off x="7406640" y="1508760"/>
            <a:ext cx="4114800" cy="320040"/>
          </a:xfrm>
          <a:prstGeom prst="rect">
            <a:avLst/>
          </a:prstGeom>
          <a:noFill/>
          <a:ln/>
        </p:spPr>
        <p:txBody>
          <a:bodyPr wrap="square" rtlCol="0" anchor="ctr"/>
          <a:lstStyle/>
          <a:p>
            <a:pPr marL="0" indent="0">
              <a:buNone/>
            </a:pPr>
            <a:r>
              <a:rPr lang="en-US" sz="1150" b="1" dirty="0">
                <a:solidFill>
                  <a:srgbClr val="6B6B6B"/>
                </a:solidFill>
                <a:latin typeface="Calibri" pitchFamily="34" charset="0"/>
                <a:ea typeface="Calibri" pitchFamily="34" charset="-122"/>
                <a:cs typeface="Calibri" pitchFamily="34" charset="-120"/>
              </a:rPr>
              <a:t>RAW / BEFORE CLEANING</a:t>
            </a:r>
            <a:endParaRPr lang="en-US" sz="1150" dirty="0"/>
          </a:p>
        </p:txBody>
      </p:sp>
      <p:sp>
        <p:nvSpPr>
          <p:cNvPr id="8" name="Text 5"/>
          <p:cNvSpPr/>
          <p:nvPr/>
        </p:nvSpPr>
        <p:spPr>
          <a:xfrm>
            <a:off x="7406640" y="1783080"/>
            <a:ext cx="4114800" cy="914400"/>
          </a:xfrm>
          <a:prstGeom prst="rect">
            <a:avLst/>
          </a:prstGeom>
          <a:noFill/>
          <a:ln/>
        </p:spPr>
        <p:txBody>
          <a:bodyPr wrap="square" rtlCol="0" anchor="ctr"/>
          <a:lstStyle/>
          <a:p>
            <a:pPr marL="0" indent="0" algn="l">
              <a:buNone/>
            </a:pPr>
            <a:r>
              <a:rPr lang="en-US" sz="4800" b="1" dirty="0">
                <a:solidFill>
                  <a:srgbClr val="5F943C"/>
                </a:solidFill>
                <a:latin typeface="Times New Roman" pitchFamily="34" charset="0"/>
                <a:ea typeface="Times New Roman" pitchFamily="34" charset="-122"/>
                <a:cs typeface="Times New Roman" pitchFamily="34" charset="-120"/>
              </a:rPr>
              <a:t>300</a:t>
            </a:r>
            <a:endParaRPr lang="en-US" sz="4800" dirty="0"/>
          </a:p>
        </p:txBody>
      </p:sp>
      <p:sp>
        <p:nvSpPr>
          <p:cNvPr id="9" name="Text 6"/>
          <p:cNvSpPr/>
          <p:nvPr/>
        </p:nvSpPr>
        <p:spPr>
          <a:xfrm>
            <a:off x="7406640" y="2697480"/>
            <a:ext cx="4114800" cy="365760"/>
          </a:xfrm>
          <a:prstGeom prst="rect">
            <a:avLst/>
          </a:prstGeom>
          <a:noFill/>
          <a:ln/>
        </p:spPr>
        <p:txBody>
          <a:bodyPr wrap="square" rtlCol="0" anchor="ctr"/>
          <a:lstStyle/>
          <a:p>
            <a:pPr marL="0" indent="0">
              <a:buNone/>
            </a:pPr>
            <a:r>
              <a:rPr lang="en-US" sz="1200" dirty="0">
                <a:solidFill>
                  <a:srgbClr val="6B6B6B"/>
                </a:solidFill>
                <a:latin typeface="Calibri" pitchFamily="34" charset="0"/>
                <a:ea typeface="Calibri" pitchFamily="34" charset="-122"/>
                <a:cs typeface="Calibri" pitchFamily="34" charset="-120"/>
              </a:rPr>
              <a:t>records</a:t>
            </a:r>
            <a:endParaRPr lang="en-US" sz="1200" dirty="0"/>
          </a:p>
        </p:txBody>
      </p:sp>
      <p:sp>
        <p:nvSpPr>
          <p:cNvPr id="10" name="Shape 7"/>
          <p:cNvSpPr/>
          <p:nvPr/>
        </p:nvSpPr>
        <p:spPr>
          <a:xfrm>
            <a:off x="7223760" y="3566160"/>
            <a:ext cx="4480560" cy="1965960"/>
          </a:xfrm>
          <a:prstGeom prst="roundRect">
            <a:avLst>
              <a:gd name="adj" fmla="val 4651"/>
            </a:avLst>
          </a:prstGeom>
          <a:solidFill>
            <a:srgbClr val="385724"/>
          </a:solidFill>
          <a:ln/>
        </p:spPr>
      </p:sp>
      <p:sp>
        <p:nvSpPr>
          <p:cNvPr id="11" name="Text 8"/>
          <p:cNvSpPr/>
          <p:nvPr/>
        </p:nvSpPr>
        <p:spPr>
          <a:xfrm>
            <a:off x="7406640" y="3703320"/>
            <a:ext cx="4114800" cy="320040"/>
          </a:xfrm>
          <a:prstGeom prst="rect">
            <a:avLst/>
          </a:prstGeom>
          <a:noFill/>
          <a:ln/>
        </p:spPr>
        <p:txBody>
          <a:bodyPr wrap="square" rtlCol="0" anchor="ctr"/>
          <a:lstStyle/>
          <a:p>
            <a:pPr marL="0" indent="0">
              <a:buNone/>
            </a:pPr>
            <a:r>
              <a:rPr lang="en-US" sz="1150" b="1" dirty="0">
                <a:solidFill>
                  <a:srgbClr val="CBDDC4"/>
                </a:solidFill>
                <a:latin typeface="Calibri" pitchFamily="34" charset="0"/>
                <a:ea typeface="Calibri" pitchFamily="34" charset="-122"/>
                <a:cs typeface="Calibri" pitchFamily="34" charset="-120"/>
              </a:rPr>
              <a:t>CLEAN / AFTER CLEANING</a:t>
            </a:r>
            <a:endParaRPr lang="en-US" sz="1150" dirty="0"/>
          </a:p>
        </p:txBody>
      </p:sp>
      <p:sp>
        <p:nvSpPr>
          <p:cNvPr id="12" name="Text 9"/>
          <p:cNvSpPr/>
          <p:nvPr/>
        </p:nvSpPr>
        <p:spPr>
          <a:xfrm>
            <a:off x="7406640" y="3977640"/>
            <a:ext cx="4114800" cy="914400"/>
          </a:xfrm>
          <a:prstGeom prst="rect">
            <a:avLst/>
          </a:prstGeom>
          <a:noFill/>
          <a:ln/>
        </p:spPr>
        <p:txBody>
          <a:bodyPr wrap="square" rtlCol="0" anchor="ctr"/>
          <a:lstStyle/>
          <a:p>
            <a:pPr marL="0" indent="0" algn="l">
              <a:buNone/>
            </a:pPr>
            <a:r>
              <a:rPr lang="en-US" sz="4800" b="1" dirty="0">
                <a:solidFill>
                  <a:srgbClr val="FFFFFF"/>
                </a:solidFill>
                <a:latin typeface="Times New Roman" pitchFamily="34" charset="0"/>
                <a:ea typeface="Times New Roman" pitchFamily="34" charset="-122"/>
                <a:cs typeface="Times New Roman" pitchFamily="34" charset="-120"/>
              </a:rPr>
              <a:t>292</a:t>
            </a:r>
            <a:endParaRPr lang="en-US" sz="4800" dirty="0"/>
          </a:p>
        </p:txBody>
      </p:sp>
      <p:sp>
        <p:nvSpPr>
          <p:cNvPr id="13" name="Text 10"/>
          <p:cNvSpPr/>
          <p:nvPr/>
        </p:nvSpPr>
        <p:spPr>
          <a:xfrm>
            <a:off x="7406640" y="4892040"/>
            <a:ext cx="4114800" cy="365760"/>
          </a:xfrm>
          <a:prstGeom prst="rect">
            <a:avLst/>
          </a:prstGeom>
          <a:noFill/>
          <a:ln/>
        </p:spPr>
        <p:txBody>
          <a:bodyPr wrap="square" rtlCol="0" anchor="ctr"/>
          <a:lstStyle/>
          <a:p>
            <a:pPr marL="0" indent="0">
              <a:buNone/>
            </a:pPr>
            <a:r>
              <a:rPr lang="en-US" sz="1200" dirty="0">
                <a:solidFill>
                  <a:srgbClr val="CBDDC4"/>
                </a:solidFill>
                <a:latin typeface="Calibri" pitchFamily="34" charset="0"/>
                <a:ea typeface="Calibri" pitchFamily="34" charset="-122"/>
                <a:cs typeface="Calibri" pitchFamily="34" charset="-120"/>
              </a:rPr>
              <a:t>records</a:t>
            </a:r>
            <a:endParaRPr lang="en-US" sz="1200" dirty="0"/>
          </a:p>
        </p:txBody>
      </p:sp>
      <p:sp>
        <p:nvSpPr>
          <p:cNvPr id="14" name="Text 11"/>
          <p:cNvSpPr/>
          <p:nvPr/>
        </p:nvSpPr>
        <p:spPr>
          <a:xfrm>
            <a:off x="502920" y="5806440"/>
            <a:ext cx="11155680" cy="457200"/>
          </a:xfrm>
          <a:prstGeom prst="rect">
            <a:avLst/>
          </a:prstGeom>
          <a:noFill/>
          <a:ln/>
        </p:spPr>
        <p:txBody>
          <a:bodyPr wrap="square" rtlCol="0" anchor="ctr"/>
          <a:lstStyle/>
          <a:p>
            <a:pPr marL="0" indent="0">
              <a:buNone/>
            </a:pPr>
            <a:r>
              <a:rPr lang="en-US" sz="1150" i="1" dirty="0">
                <a:solidFill>
                  <a:srgbClr val="6B6B6B"/>
                </a:solidFill>
                <a:latin typeface="Calibri" pitchFamily="34" charset="0"/>
                <a:ea typeface="Calibri" pitchFamily="34" charset="-122"/>
                <a:cs typeface="Calibri" pitchFamily="34" charset="-120"/>
              </a:rPr>
              <a:t>8 duplicate records were removed during cleaning, bringing the dataset from 300 down to 292 reliable records.</a:t>
            </a:r>
            <a:endParaRPr lang="en-US" sz="1150" dirty="0"/>
          </a:p>
        </p:txBody>
      </p:sp>
      <p:sp>
        <p:nvSpPr>
          <p:cNvPr id="15" name="Text 12"/>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3/10</a:t>
            </a:r>
            <a:endParaRPr lang="en-US" sz="1000" dirty="0"/>
          </a:p>
        </p:txBody>
      </p:sp>
      <p:sp>
        <p:nvSpPr>
          <p:cNvPr id="16" name="Text 13"/>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Data Before and After Cleaning</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What changed during cleaning</a:t>
            </a:r>
            <a:endParaRPr lang="en-US" sz="1300" dirty="0"/>
          </a:p>
        </p:txBody>
      </p:sp>
      <p:sp>
        <p:nvSpPr>
          <p:cNvPr id="5" name="Shape 3"/>
          <p:cNvSpPr/>
          <p:nvPr/>
        </p:nvSpPr>
        <p:spPr>
          <a:xfrm>
            <a:off x="502920" y="1371600"/>
            <a:ext cx="5394960" cy="2880360"/>
          </a:xfrm>
          <a:prstGeom prst="roundRect">
            <a:avLst>
              <a:gd name="adj" fmla="val 2540"/>
            </a:avLst>
          </a:prstGeom>
          <a:solidFill>
            <a:srgbClr val="EEF4EA"/>
          </a:solidFill>
          <a:ln w="12700">
            <a:solidFill>
              <a:srgbClr val="CBDDC4"/>
            </a:solidFill>
            <a:prstDash val="solid"/>
          </a:ln>
        </p:spPr>
      </p:sp>
      <p:sp>
        <p:nvSpPr>
          <p:cNvPr id="6" name="Text 4"/>
          <p:cNvSpPr/>
          <p:nvPr/>
        </p:nvSpPr>
        <p:spPr>
          <a:xfrm>
            <a:off x="731520" y="1481328"/>
            <a:ext cx="4937760" cy="365760"/>
          </a:xfrm>
          <a:prstGeom prst="rect">
            <a:avLst/>
          </a:prstGeom>
          <a:noFill/>
          <a:ln/>
        </p:spPr>
        <p:txBody>
          <a:bodyPr wrap="square" rtlCol="0" anchor="ctr"/>
          <a:lstStyle/>
          <a:p>
            <a:pPr marL="0" indent="0">
              <a:buNone/>
            </a:pPr>
            <a:r>
              <a:rPr lang="en-US" sz="1400" b="1" dirty="0">
                <a:solidFill>
                  <a:srgbClr val="385724"/>
                </a:solidFill>
                <a:latin typeface="Calibri" pitchFamily="34" charset="0"/>
                <a:ea typeface="Calibri" pitchFamily="34" charset="-122"/>
                <a:cs typeface="Calibri" pitchFamily="34" charset="-120"/>
              </a:rPr>
              <a:t>BEFORE CLEANING</a:t>
            </a:r>
            <a:endParaRPr lang="en-US" sz="1400" dirty="0"/>
          </a:p>
        </p:txBody>
      </p:sp>
      <p:sp>
        <p:nvSpPr>
          <p:cNvPr id="7" name="Text 5"/>
          <p:cNvSpPr/>
          <p:nvPr/>
        </p:nvSpPr>
        <p:spPr>
          <a:xfrm>
            <a:off x="731520" y="1965960"/>
            <a:ext cx="3344875" cy="384048"/>
          </a:xfrm>
          <a:prstGeom prst="rect">
            <a:avLst/>
          </a:prstGeom>
          <a:noFill/>
          <a:ln/>
        </p:spPr>
        <p:txBody>
          <a:bodyPr wrap="square" rtlCol="0" anchor="ctr"/>
          <a:lstStyle/>
          <a:p>
            <a:pPr marL="0" indent="0">
              <a:buNone/>
            </a:pPr>
            <a:r>
              <a:rPr lang="en-US" sz="1200" dirty="0">
                <a:solidFill>
                  <a:srgbClr val="6B6B6B"/>
                </a:solidFill>
                <a:latin typeface="Calibri" pitchFamily="34" charset="0"/>
                <a:ea typeface="Calibri" pitchFamily="34" charset="-122"/>
                <a:cs typeface="Calibri" pitchFamily="34" charset="-120"/>
              </a:rPr>
              <a:t>Total Records</a:t>
            </a:r>
            <a:endParaRPr lang="en-US" sz="1200" dirty="0"/>
          </a:p>
        </p:txBody>
      </p:sp>
      <p:sp>
        <p:nvSpPr>
          <p:cNvPr id="8" name="Text 6"/>
          <p:cNvSpPr/>
          <p:nvPr/>
        </p:nvSpPr>
        <p:spPr>
          <a:xfrm>
            <a:off x="3847795" y="1965960"/>
            <a:ext cx="1780337" cy="384048"/>
          </a:xfrm>
          <a:prstGeom prst="rect">
            <a:avLst/>
          </a:prstGeom>
          <a:noFill/>
          <a:ln/>
        </p:spPr>
        <p:txBody>
          <a:bodyPr wrap="square" rtlCol="0" anchor="ctr"/>
          <a:lstStyle/>
          <a:p>
            <a:pPr marL="0" indent="0" algn="r">
              <a:buNone/>
            </a:pPr>
            <a:r>
              <a:rPr lang="en-US" sz="1300" b="1" dirty="0">
                <a:solidFill>
                  <a:srgbClr val="385724"/>
                </a:solidFill>
                <a:latin typeface="Calibri" pitchFamily="34" charset="0"/>
                <a:ea typeface="Calibri" pitchFamily="34" charset="-122"/>
                <a:cs typeface="Calibri" pitchFamily="34" charset="-120"/>
              </a:rPr>
              <a:t>300</a:t>
            </a:r>
            <a:endParaRPr lang="en-US" sz="1300" dirty="0"/>
          </a:p>
        </p:txBody>
      </p:sp>
      <p:sp>
        <p:nvSpPr>
          <p:cNvPr id="9" name="Text 7"/>
          <p:cNvSpPr/>
          <p:nvPr/>
        </p:nvSpPr>
        <p:spPr>
          <a:xfrm>
            <a:off x="731520" y="2423160"/>
            <a:ext cx="3344875" cy="384048"/>
          </a:xfrm>
          <a:prstGeom prst="rect">
            <a:avLst/>
          </a:prstGeom>
          <a:noFill/>
          <a:ln/>
        </p:spPr>
        <p:txBody>
          <a:bodyPr wrap="square" rtlCol="0" anchor="ctr"/>
          <a:lstStyle/>
          <a:p>
            <a:pPr marL="0" indent="0">
              <a:buNone/>
            </a:pPr>
            <a:r>
              <a:rPr lang="en-US" sz="1200" dirty="0">
                <a:solidFill>
                  <a:srgbClr val="6B6B6B"/>
                </a:solidFill>
                <a:latin typeface="Calibri" pitchFamily="34" charset="0"/>
                <a:ea typeface="Calibri" pitchFamily="34" charset="-122"/>
                <a:cs typeface="Calibri" pitchFamily="34" charset="-120"/>
              </a:rPr>
              <a:t>Duplicate Records</a:t>
            </a:r>
            <a:endParaRPr lang="en-US" sz="1200" dirty="0"/>
          </a:p>
        </p:txBody>
      </p:sp>
      <p:sp>
        <p:nvSpPr>
          <p:cNvPr id="10" name="Text 8"/>
          <p:cNvSpPr/>
          <p:nvPr/>
        </p:nvSpPr>
        <p:spPr>
          <a:xfrm>
            <a:off x="3847795" y="2423160"/>
            <a:ext cx="1780337" cy="384048"/>
          </a:xfrm>
          <a:prstGeom prst="rect">
            <a:avLst/>
          </a:prstGeom>
          <a:noFill/>
          <a:ln/>
        </p:spPr>
        <p:txBody>
          <a:bodyPr wrap="square" rtlCol="0" anchor="ctr"/>
          <a:lstStyle/>
          <a:p>
            <a:pPr marL="0" indent="0" algn="r">
              <a:buNone/>
            </a:pPr>
            <a:r>
              <a:rPr lang="en-US" sz="1300" b="1" dirty="0">
                <a:solidFill>
                  <a:srgbClr val="385724"/>
                </a:solidFill>
                <a:latin typeface="Calibri" pitchFamily="34" charset="0"/>
                <a:ea typeface="Calibri" pitchFamily="34" charset="-122"/>
                <a:cs typeface="Calibri" pitchFamily="34" charset="-120"/>
              </a:rPr>
              <a:t>8</a:t>
            </a:r>
            <a:endParaRPr lang="en-US" sz="1300" dirty="0"/>
          </a:p>
        </p:txBody>
      </p:sp>
      <p:sp>
        <p:nvSpPr>
          <p:cNvPr id="11" name="Text 9"/>
          <p:cNvSpPr/>
          <p:nvPr/>
        </p:nvSpPr>
        <p:spPr>
          <a:xfrm>
            <a:off x="731520" y="2880360"/>
            <a:ext cx="3344875" cy="384048"/>
          </a:xfrm>
          <a:prstGeom prst="rect">
            <a:avLst/>
          </a:prstGeom>
          <a:noFill/>
          <a:ln/>
        </p:spPr>
        <p:txBody>
          <a:bodyPr wrap="square" rtlCol="0" anchor="ctr"/>
          <a:lstStyle/>
          <a:p>
            <a:pPr marL="0" indent="0">
              <a:buNone/>
            </a:pPr>
            <a:r>
              <a:rPr lang="en-US" sz="1200" dirty="0">
                <a:solidFill>
                  <a:srgbClr val="6B6B6B"/>
                </a:solidFill>
                <a:latin typeface="Calibri" pitchFamily="34" charset="0"/>
                <a:ea typeface="Calibri" pitchFamily="34" charset="-122"/>
                <a:cs typeface="Calibri" pitchFamily="34" charset="-120"/>
              </a:rPr>
              <a:t>Blank Rows</a:t>
            </a:r>
            <a:endParaRPr lang="en-US" sz="1200" dirty="0"/>
          </a:p>
        </p:txBody>
      </p:sp>
      <p:sp>
        <p:nvSpPr>
          <p:cNvPr id="12" name="Text 10"/>
          <p:cNvSpPr/>
          <p:nvPr/>
        </p:nvSpPr>
        <p:spPr>
          <a:xfrm>
            <a:off x="3847795" y="2880360"/>
            <a:ext cx="1780337" cy="384048"/>
          </a:xfrm>
          <a:prstGeom prst="rect">
            <a:avLst/>
          </a:prstGeom>
          <a:noFill/>
          <a:ln/>
        </p:spPr>
        <p:txBody>
          <a:bodyPr wrap="square" rtlCol="0" anchor="ctr"/>
          <a:lstStyle/>
          <a:p>
            <a:pPr marL="0" indent="0" algn="r">
              <a:buNone/>
            </a:pPr>
            <a:r>
              <a:rPr lang="en-US" sz="1300" b="1" dirty="0">
                <a:solidFill>
                  <a:srgbClr val="385724"/>
                </a:solidFill>
                <a:latin typeface="Calibri" pitchFamily="34" charset="0"/>
                <a:ea typeface="Calibri" pitchFamily="34" charset="-122"/>
                <a:cs typeface="Calibri" pitchFamily="34" charset="-120"/>
              </a:rPr>
              <a:t>0</a:t>
            </a:r>
            <a:endParaRPr lang="en-US" sz="1300" dirty="0"/>
          </a:p>
        </p:txBody>
      </p:sp>
      <p:sp>
        <p:nvSpPr>
          <p:cNvPr id="13" name="Text 11"/>
          <p:cNvSpPr/>
          <p:nvPr/>
        </p:nvSpPr>
        <p:spPr>
          <a:xfrm>
            <a:off x="731520" y="3337560"/>
            <a:ext cx="3344875" cy="384048"/>
          </a:xfrm>
          <a:prstGeom prst="rect">
            <a:avLst/>
          </a:prstGeom>
          <a:noFill/>
          <a:ln/>
        </p:spPr>
        <p:txBody>
          <a:bodyPr wrap="square" rtlCol="0" anchor="ctr"/>
          <a:lstStyle/>
          <a:p>
            <a:pPr marL="0" indent="0">
              <a:buNone/>
            </a:pPr>
            <a:r>
              <a:rPr lang="en-US" sz="1200" dirty="0">
                <a:solidFill>
                  <a:srgbClr val="6B6B6B"/>
                </a:solidFill>
                <a:latin typeface="Calibri" pitchFamily="34" charset="0"/>
                <a:ea typeface="Calibri" pitchFamily="34" charset="-122"/>
                <a:cs typeface="Calibri" pitchFamily="34" charset="-120"/>
              </a:rPr>
              <a:t>Missing Values</a:t>
            </a:r>
            <a:endParaRPr lang="en-US" sz="1200" dirty="0"/>
          </a:p>
        </p:txBody>
      </p:sp>
      <p:sp>
        <p:nvSpPr>
          <p:cNvPr id="14" name="Text 12"/>
          <p:cNvSpPr/>
          <p:nvPr/>
        </p:nvSpPr>
        <p:spPr>
          <a:xfrm>
            <a:off x="3847795" y="3337560"/>
            <a:ext cx="1780337" cy="384048"/>
          </a:xfrm>
          <a:prstGeom prst="rect">
            <a:avLst/>
          </a:prstGeom>
          <a:noFill/>
          <a:ln/>
        </p:spPr>
        <p:txBody>
          <a:bodyPr wrap="square" rtlCol="0" anchor="ctr"/>
          <a:lstStyle/>
          <a:p>
            <a:pPr marL="0" indent="0" algn="r">
              <a:buNone/>
            </a:pPr>
            <a:r>
              <a:rPr lang="en-US" sz="1300" b="1" dirty="0">
                <a:solidFill>
                  <a:srgbClr val="385724"/>
                </a:solidFill>
                <a:latin typeface="Calibri" pitchFamily="34" charset="0"/>
                <a:ea typeface="Calibri" pitchFamily="34" charset="-122"/>
                <a:cs typeface="Calibri" pitchFamily="34" charset="-120"/>
              </a:rPr>
              <a:t>111</a:t>
            </a:r>
            <a:endParaRPr lang="en-US" sz="1300" dirty="0"/>
          </a:p>
        </p:txBody>
      </p:sp>
      <p:sp>
        <p:nvSpPr>
          <p:cNvPr id="15" name="Shape 13"/>
          <p:cNvSpPr/>
          <p:nvPr/>
        </p:nvSpPr>
        <p:spPr>
          <a:xfrm>
            <a:off x="6172200" y="1371600"/>
            <a:ext cx="5394960" cy="2880360"/>
          </a:xfrm>
          <a:prstGeom prst="roundRect">
            <a:avLst>
              <a:gd name="adj" fmla="val 2540"/>
            </a:avLst>
          </a:prstGeom>
          <a:solidFill>
            <a:srgbClr val="385724"/>
          </a:solidFill>
          <a:ln w="12700">
            <a:solidFill>
              <a:srgbClr val="CBDDC4"/>
            </a:solidFill>
            <a:prstDash val="solid"/>
          </a:ln>
        </p:spPr>
      </p:sp>
      <p:sp>
        <p:nvSpPr>
          <p:cNvPr id="16" name="Text 14"/>
          <p:cNvSpPr/>
          <p:nvPr/>
        </p:nvSpPr>
        <p:spPr>
          <a:xfrm>
            <a:off x="6400800" y="1481328"/>
            <a:ext cx="49377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AFTER CLEANING</a:t>
            </a:r>
            <a:endParaRPr lang="en-US" sz="1400" dirty="0"/>
          </a:p>
        </p:txBody>
      </p:sp>
      <p:sp>
        <p:nvSpPr>
          <p:cNvPr id="17" name="Text 15"/>
          <p:cNvSpPr/>
          <p:nvPr/>
        </p:nvSpPr>
        <p:spPr>
          <a:xfrm>
            <a:off x="6400800" y="1965960"/>
            <a:ext cx="3344875" cy="384048"/>
          </a:xfrm>
          <a:prstGeom prst="rect">
            <a:avLst/>
          </a:prstGeom>
          <a:noFill/>
          <a:ln/>
        </p:spPr>
        <p:txBody>
          <a:bodyPr wrap="square" rtlCol="0" anchor="ctr"/>
          <a:lstStyle/>
          <a:p>
            <a:pPr marL="0" indent="0">
              <a:buNone/>
            </a:pPr>
            <a:r>
              <a:rPr lang="en-US" sz="1200" dirty="0">
                <a:solidFill>
                  <a:srgbClr val="CBDDC4"/>
                </a:solidFill>
                <a:latin typeface="Calibri" pitchFamily="34" charset="0"/>
                <a:ea typeface="Calibri" pitchFamily="34" charset="-122"/>
                <a:cs typeface="Calibri" pitchFamily="34" charset="-120"/>
              </a:rPr>
              <a:t>Total Records</a:t>
            </a:r>
            <a:endParaRPr lang="en-US" sz="1200" dirty="0"/>
          </a:p>
        </p:txBody>
      </p:sp>
      <p:sp>
        <p:nvSpPr>
          <p:cNvPr id="18" name="Text 16"/>
          <p:cNvSpPr/>
          <p:nvPr/>
        </p:nvSpPr>
        <p:spPr>
          <a:xfrm>
            <a:off x="9517075" y="1965960"/>
            <a:ext cx="1780337" cy="384048"/>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292</a:t>
            </a:r>
            <a:endParaRPr lang="en-US" sz="1300" dirty="0"/>
          </a:p>
        </p:txBody>
      </p:sp>
      <p:sp>
        <p:nvSpPr>
          <p:cNvPr id="19" name="Text 17"/>
          <p:cNvSpPr/>
          <p:nvPr/>
        </p:nvSpPr>
        <p:spPr>
          <a:xfrm>
            <a:off x="6400800" y="2423160"/>
            <a:ext cx="3344875" cy="384048"/>
          </a:xfrm>
          <a:prstGeom prst="rect">
            <a:avLst/>
          </a:prstGeom>
          <a:noFill/>
          <a:ln/>
        </p:spPr>
        <p:txBody>
          <a:bodyPr wrap="square" rtlCol="0" anchor="ctr"/>
          <a:lstStyle/>
          <a:p>
            <a:pPr marL="0" indent="0">
              <a:buNone/>
            </a:pPr>
            <a:r>
              <a:rPr lang="en-US" sz="1200" dirty="0">
                <a:solidFill>
                  <a:srgbClr val="CBDDC4"/>
                </a:solidFill>
                <a:latin typeface="Calibri" pitchFamily="34" charset="0"/>
                <a:ea typeface="Calibri" pitchFamily="34" charset="-122"/>
                <a:cs typeface="Calibri" pitchFamily="34" charset="-120"/>
              </a:rPr>
              <a:t>Duplicate Records</a:t>
            </a:r>
            <a:endParaRPr lang="en-US" sz="1200" dirty="0"/>
          </a:p>
        </p:txBody>
      </p:sp>
      <p:sp>
        <p:nvSpPr>
          <p:cNvPr id="20" name="Text 18"/>
          <p:cNvSpPr/>
          <p:nvPr/>
        </p:nvSpPr>
        <p:spPr>
          <a:xfrm>
            <a:off x="9517075" y="2423160"/>
            <a:ext cx="1780337" cy="384048"/>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21" name="Text 19"/>
          <p:cNvSpPr/>
          <p:nvPr/>
        </p:nvSpPr>
        <p:spPr>
          <a:xfrm>
            <a:off x="6400800" y="2880360"/>
            <a:ext cx="3344875" cy="384048"/>
          </a:xfrm>
          <a:prstGeom prst="rect">
            <a:avLst/>
          </a:prstGeom>
          <a:noFill/>
          <a:ln/>
        </p:spPr>
        <p:txBody>
          <a:bodyPr wrap="square" rtlCol="0" anchor="ctr"/>
          <a:lstStyle/>
          <a:p>
            <a:pPr marL="0" indent="0">
              <a:buNone/>
            </a:pPr>
            <a:r>
              <a:rPr lang="en-US" sz="1200" dirty="0">
                <a:solidFill>
                  <a:srgbClr val="CBDDC4"/>
                </a:solidFill>
                <a:latin typeface="Calibri" pitchFamily="34" charset="0"/>
                <a:ea typeface="Calibri" pitchFamily="34" charset="-122"/>
                <a:cs typeface="Calibri" pitchFamily="34" charset="-120"/>
              </a:rPr>
              <a:t>Blank Rows</a:t>
            </a:r>
            <a:endParaRPr lang="en-US" sz="1200" dirty="0"/>
          </a:p>
        </p:txBody>
      </p:sp>
      <p:sp>
        <p:nvSpPr>
          <p:cNvPr id="22" name="Text 20"/>
          <p:cNvSpPr/>
          <p:nvPr/>
        </p:nvSpPr>
        <p:spPr>
          <a:xfrm>
            <a:off x="9517075" y="2880360"/>
            <a:ext cx="1780337" cy="384048"/>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23" name="Text 21"/>
          <p:cNvSpPr/>
          <p:nvPr/>
        </p:nvSpPr>
        <p:spPr>
          <a:xfrm>
            <a:off x="6400800" y="3337560"/>
            <a:ext cx="3344875" cy="384048"/>
          </a:xfrm>
          <a:prstGeom prst="rect">
            <a:avLst/>
          </a:prstGeom>
          <a:noFill/>
          <a:ln/>
        </p:spPr>
        <p:txBody>
          <a:bodyPr wrap="square" rtlCol="0" anchor="ctr"/>
          <a:lstStyle/>
          <a:p>
            <a:pPr marL="0" indent="0">
              <a:buNone/>
            </a:pPr>
            <a:r>
              <a:rPr lang="en-US" sz="1200" dirty="0">
                <a:solidFill>
                  <a:srgbClr val="CBDDC4"/>
                </a:solidFill>
                <a:latin typeface="Calibri" pitchFamily="34" charset="0"/>
                <a:ea typeface="Calibri" pitchFamily="34" charset="-122"/>
                <a:cs typeface="Calibri" pitchFamily="34" charset="-120"/>
              </a:rPr>
              <a:t>Missing Values</a:t>
            </a:r>
            <a:endParaRPr lang="en-US" sz="1200" dirty="0"/>
          </a:p>
        </p:txBody>
      </p:sp>
      <p:sp>
        <p:nvSpPr>
          <p:cNvPr id="24" name="Text 22"/>
          <p:cNvSpPr/>
          <p:nvPr/>
        </p:nvSpPr>
        <p:spPr>
          <a:xfrm>
            <a:off x="9517075" y="3337560"/>
            <a:ext cx="1780337" cy="384048"/>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25" name="Shape 23"/>
          <p:cNvSpPr/>
          <p:nvPr/>
        </p:nvSpPr>
        <p:spPr>
          <a:xfrm>
            <a:off x="502920" y="4572000"/>
            <a:ext cx="2628900" cy="1051560"/>
          </a:xfrm>
          <a:prstGeom prst="roundRect">
            <a:avLst>
              <a:gd name="adj" fmla="val 6957"/>
            </a:avLst>
          </a:prstGeom>
          <a:solidFill>
            <a:srgbClr val="EEF4EA"/>
          </a:solidFill>
          <a:ln w="12700">
            <a:solidFill>
              <a:srgbClr val="CBDDC4"/>
            </a:solidFill>
            <a:prstDash val="solid"/>
          </a:ln>
        </p:spPr>
      </p:sp>
      <p:pic>
        <p:nvPicPr>
          <p:cNvPr id="26" name="Image 0" descr="/home/claude/icons/check_6FAD47.png"/>
          <p:cNvPicPr>
            <a:picLocks noChangeAspect="1"/>
          </p:cNvPicPr>
          <p:nvPr/>
        </p:nvPicPr>
        <p:blipFill>
          <a:blip r:embed="rId3"/>
          <a:stretch>
            <a:fillRect/>
          </a:stretch>
        </p:blipFill>
        <p:spPr>
          <a:xfrm>
            <a:off x="1634490" y="4681728"/>
            <a:ext cx="365760" cy="365760"/>
          </a:xfrm>
          <a:prstGeom prst="rect">
            <a:avLst/>
          </a:prstGeom>
        </p:spPr>
      </p:pic>
      <p:sp>
        <p:nvSpPr>
          <p:cNvPr id="27" name="Text 24"/>
          <p:cNvSpPr/>
          <p:nvPr/>
        </p:nvSpPr>
        <p:spPr>
          <a:xfrm>
            <a:off x="594360" y="5074920"/>
            <a:ext cx="2446020" cy="457200"/>
          </a:xfrm>
          <a:prstGeom prst="rect">
            <a:avLst/>
          </a:prstGeom>
          <a:noFill/>
          <a:ln/>
        </p:spPr>
        <p:txBody>
          <a:bodyPr wrap="square" rtlCol="0" anchor="ctr"/>
          <a:lstStyle/>
          <a:p>
            <a:pPr marL="0" indent="0" algn="ctr">
              <a:buNone/>
            </a:pPr>
            <a:r>
              <a:rPr lang="en-US" sz="1000" b="1" dirty="0">
                <a:solidFill>
                  <a:srgbClr val="2B2B2B"/>
                </a:solidFill>
                <a:latin typeface="Calibri" pitchFamily="34" charset="0"/>
                <a:ea typeface="Calibri" pitchFamily="34" charset="-122"/>
                <a:cs typeface="Calibri" pitchFamily="34" charset="-120"/>
              </a:rPr>
              <a:t>Duplicates Removed</a:t>
            </a:r>
            <a:endParaRPr lang="en-US" sz="1000" dirty="0"/>
          </a:p>
        </p:txBody>
      </p:sp>
      <p:sp>
        <p:nvSpPr>
          <p:cNvPr id="28" name="Shape 25"/>
          <p:cNvSpPr/>
          <p:nvPr/>
        </p:nvSpPr>
        <p:spPr>
          <a:xfrm>
            <a:off x="3314700" y="4572000"/>
            <a:ext cx="2628900" cy="1051560"/>
          </a:xfrm>
          <a:prstGeom prst="roundRect">
            <a:avLst>
              <a:gd name="adj" fmla="val 6957"/>
            </a:avLst>
          </a:prstGeom>
          <a:solidFill>
            <a:srgbClr val="EEF4EA"/>
          </a:solidFill>
          <a:ln w="12700">
            <a:solidFill>
              <a:srgbClr val="CBDDC4"/>
            </a:solidFill>
            <a:prstDash val="solid"/>
          </a:ln>
        </p:spPr>
      </p:sp>
      <p:pic>
        <p:nvPicPr>
          <p:cNvPr id="29" name="Image 1" descr="/home/claude/icons/check_6FAD47.png"/>
          <p:cNvPicPr>
            <a:picLocks noChangeAspect="1"/>
          </p:cNvPicPr>
          <p:nvPr/>
        </p:nvPicPr>
        <p:blipFill>
          <a:blip r:embed="rId3"/>
          <a:stretch>
            <a:fillRect/>
          </a:stretch>
        </p:blipFill>
        <p:spPr>
          <a:xfrm>
            <a:off x="4446270" y="4681728"/>
            <a:ext cx="365760" cy="365760"/>
          </a:xfrm>
          <a:prstGeom prst="rect">
            <a:avLst/>
          </a:prstGeom>
        </p:spPr>
      </p:pic>
      <p:sp>
        <p:nvSpPr>
          <p:cNvPr id="30" name="Text 26"/>
          <p:cNvSpPr/>
          <p:nvPr/>
        </p:nvSpPr>
        <p:spPr>
          <a:xfrm>
            <a:off x="3406140" y="5074920"/>
            <a:ext cx="2446020" cy="457200"/>
          </a:xfrm>
          <a:prstGeom prst="rect">
            <a:avLst/>
          </a:prstGeom>
          <a:noFill/>
          <a:ln/>
        </p:spPr>
        <p:txBody>
          <a:bodyPr wrap="square" rtlCol="0" anchor="ctr"/>
          <a:lstStyle/>
          <a:p>
            <a:pPr marL="0" indent="0" algn="ctr">
              <a:buNone/>
            </a:pPr>
            <a:r>
              <a:rPr lang="en-US" sz="1000" b="1" dirty="0">
                <a:solidFill>
                  <a:srgbClr val="2B2B2B"/>
                </a:solidFill>
                <a:latin typeface="Calibri" pitchFamily="34" charset="0"/>
                <a:ea typeface="Calibri" pitchFamily="34" charset="-122"/>
                <a:cs typeface="Calibri" pitchFamily="34" charset="-120"/>
              </a:rPr>
              <a:t>Missing Values Handled</a:t>
            </a:r>
            <a:endParaRPr lang="en-US" sz="1000" dirty="0"/>
          </a:p>
        </p:txBody>
      </p:sp>
      <p:sp>
        <p:nvSpPr>
          <p:cNvPr id="31" name="Shape 27"/>
          <p:cNvSpPr/>
          <p:nvPr/>
        </p:nvSpPr>
        <p:spPr>
          <a:xfrm>
            <a:off x="6126480" y="4572000"/>
            <a:ext cx="2628900" cy="1051560"/>
          </a:xfrm>
          <a:prstGeom prst="roundRect">
            <a:avLst>
              <a:gd name="adj" fmla="val 6957"/>
            </a:avLst>
          </a:prstGeom>
          <a:solidFill>
            <a:srgbClr val="EEF4EA"/>
          </a:solidFill>
          <a:ln w="12700">
            <a:solidFill>
              <a:srgbClr val="CBDDC4"/>
            </a:solidFill>
            <a:prstDash val="solid"/>
          </a:ln>
        </p:spPr>
      </p:sp>
      <p:pic>
        <p:nvPicPr>
          <p:cNvPr id="32" name="Image 2" descr="/home/claude/icons/check_6FAD47.png"/>
          <p:cNvPicPr>
            <a:picLocks noChangeAspect="1"/>
          </p:cNvPicPr>
          <p:nvPr/>
        </p:nvPicPr>
        <p:blipFill>
          <a:blip r:embed="rId3"/>
          <a:stretch>
            <a:fillRect/>
          </a:stretch>
        </p:blipFill>
        <p:spPr>
          <a:xfrm>
            <a:off x="7258050" y="4681728"/>
            <a:ext cx="365760" cy="365760"/>
          </a:xfrm>
          <a:prstGeom prst="rect">
            <a:avLst/>
          </a:prstGeom>
        </p:spPr>
      </p:pic>
      <p:sp>
        <p:nvSpPr>
          <p:cNvPr id="33" name="Text 28"/>
          <p:cNvSpPr/>
          <p:nvPr/>
        </p:nvSpPr>
        <p:spPr>
          <a:xfrm>
            <a:off x="6217920" y="5074920"/>
            <a:ext cx="2446020" cy="457200"/>
          </a:xfrm>
          <a:prstGeom prst="rect">
            <a:avLst/>
          </a:prstGeom>
          <a:noFill/>
          <a:ln/>
        </p:spPr>
        <p:txBody>
          <a:bodyPr wrap="square" rtlCol="0" anchor="ctr"/>
          <a:lstStyle/>
          <a:p>
            <a:pPr marL="0" indent="0" algn="ctr">
              <a:buNone/>
            </a:pPr>
            <a:r>
              <a:rPr lang="en-US" sz="1000" b="1" dirty="0">
                <a:solidFill>
                  <a:srgbClr val="2B2B2B"/>
                </a:solidFill>
                <a:latin typeface="Calibri" pitchFamily="34" charset="0"/>
                <a:ea typeface="Calibri" pitchFamily="34" charset="-122"/>
                <a:cs typeface="Calibri" pitchFamily="34" charset="-120"/>
              </a:rPr>
              <a:t>Inconsistent Values Corrected</a:t>
            </a:r>
            <a:endParaRPr lang="en-US" sz="1000" dirty="0"/>
          </a:p>
        </p:txBody>
      </p:sp>
      <p:sp>
        <p:nvSpPr>
          <p:cNvPr id="34" name="Shape 29"/>
          <p:cNvSpPr/>
          <p:nvPr/>
        </p:nvSpPr>
        <p:spPr>
          <a:xfrm>
            <a:off x="8938260" y="4572000"/>
            <a:ext cx="2628900" cy="1051560"/>
          </a:xfrm>
          <a:prstGeom prst="roundRect">
            <a:avLst>
              <a:gd name="adj" fmla="val 6957"/>
            </a:avLst>
          </a:prstGeom>
          <a:solidFill>
            <a:srgbClr val="EEF4EA"/>
          </a:solidFill>
          <a:ln w="12700">
            <a:solidFill>
              <a:srgbClr val="CBDDC4"/>
            </a:solidFill>
            <a:prstDash val="solid"/>
          </a:ln>
        </p:spPr>
      </p:sp>
      <p:pic>
        <p:nvPicPr>
          <p:cNvPr id="35" name="Image 3" descr="/home/claude/icons/check_6FAD47.png"/>
          <p:cNvPicPr>
            <a:picLocks noChangeAspect="1"/>
          </p:cNvPicPr>
          <p:nvPr/>
        </p:nvPicPr>
        <p:blipFill>
          <a:blip r:embed="rId3"/>
          <a:stretch>
            <a:fillRect/>
          </a:stretch>
        </p:blipFill>
        <p:spPr>
          <a:xfrm>
            <a:off x="10069830" y="4681728"/>
            <a:ext cx="365760" cy="365760"/>
          </a:xfrm>
          <a:prstGeom prst="rect">
            <a:avLst/>
          </a:prstGeom>
        </p:spPr>
      </p:pic>
      <p:sp>
        <p:nvSpPr>
          <p:cNvPr id="36" name="Text 30"/>
          <p:cNvSpPr/>
          <p:nvPr/>
        </p:nvSpPr>
        <p:spPr>
          <a:xfrm>
            <a:off x="9029700" y="5074920"/>
            <a:ext cx="2446020" cy="457200"/>
          </a:xfrm>
          <a:prstGeom prst="rect">
            <a:avLst/>
          </a:prstGeom>
          <a:noFill/>
          <a:ln/>
        </p:spPr>
        <p:txBody>
          <a:bodyPr wrap="square" rtlCol="0" anchor="ctr"/>
          <a:lstStyle/>
          <a:p>
            <a:pPr marL="0" indent="0" algn="ctr">
              <a:buNone/>
            </a:pPr>
            <a:r>
              <a:rPr lang="en-US" sz="1000" b="1" dirty="0">
                <a:solidFill>
                  <a:srgbClr val="2B2B2B"/>
                </a:solidFill>
                <a:latin typeface="Calibri" pitchFamily="34" charset="0"/>
                <a:ea typeface="Calibri" pitchFamily="34" charset="-122"/>
                <a:cs typeface="Calibri" pitchFamily="34" charset="-120"/>
              </a:rPr>
              <a:t>Text Cleaning</a:t>
            </a:r>
            <a:endParaRPr lang="en-US" sz="1000" dirty="0"/>
          </a:p>
        </p:txBody>
      </p:sp>
      <p:sp>
        <p:nvSpPr>
          <p:cNvPr id="37" name="Text 31"/>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4/10</a:t>
            </a:r>
            <a:endParaRPr lang="en-US" sz="1000" dirty="0"/>
          </a:p>
        </p:txBody>
      </p:sp>
      <p:sp>
        <p:nvSpPr>
          <p:cNvPr id="38" name="Text 32"/>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Data Cleaning Process </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How the raw data was cleaned, step by step</a:t>
            </a:r>
            <a:endParaRPr lang="en-US" sz="1300" dirty="0"/>
          </a:p>
        </p:txBody>
      </p:sp>
      <p:sp>
        <p:nvSpPr>
          <p:cNvPr id="5" name="Shape 3"/>
          <p:cNvSpPr/>
          <p:nvPr/>
        </p:nvSpPr>
        <p:spPr>
          <a:xfrm>
            <a:off x="502920" y="1600200"/>
            <a:ext cx="1371600" cy="777240"/>
          </a:xfrm>
          <a:prstGeom prst="roundRect">
            <a:avLst>
              <a:gd name="adj" fmla="val 9412"/>
            </a:avLst>
          </a:prstGeom>
          <a:solidFill>
            <a:srgbClr val="385724"/>
          </a:solidFill>
          <a:ln/>
        </p:spPr>
      </p:sp>
      <p:sp>
        <p:nvSpPr>
          <p:cNvPr id="6" name="Text 4"/>
          <p:cNvSpPr/>
          <p:nvPr/>
        </p:nvSpPr>
        <p:spPr>
          <a:xfrm>
            <a:off x="548640"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Raw Data</a:t>
            </a:r>
            <a:endParaRPr lang="en-US" sz="1050" dirty="0"/>
          </a:p>
        </p:txBody>
      </p:sp>
      <p:sp>
        <p:nvSpPr>
          <p:cNvPr id="7" name="Shape 5"/>
          <p:cNvSpPr/>
          <p:nvPr/>
        </p:nvSpPr>
        <p:spPr>
          <a:xfrm>
            <a:off x="1874520" y="1906524"/>
            <a:ext cx="245364" cy="164592"/>
          </a:xfrm>
          <a:prstGeom prst="rightArrow">
            <a:avLst/>
          </a:prstGeom>
          <a:solidFill>
            <a:srgbClr val="CBDDC4"/>
          </a:solidFill>
          <a:ln/>
        </p:spPr>
      </p:sp>
      <p:sp>
        <p:nvSpPr>
          <p:cNvPr id="8" name="Shape 6"/>
          <p:cNvSpPr/>
          <p:nvPr/>
        </p:nvSpPr>
        <p:spPr>
          <a:xfrm>
            <a:off x="2138172" y="1600200"/>
            <a:ext cx="1371600" cy="777240"/>
          </a:xfrm>
          <a:prstGeom prst="roundRect">
            <a:avLst>
              <a:gd name="adj" fmla="val 9412"/>
            </a:avLst>
          </a:prstGeom>
          <a:solidFill>
            <a:srgbClr val="6FAD47"/>
          </a:solidFill>
          <a:ln/>
        </p:spPr>
      </p:sp>
      <p:sp>
        <p:nvSpPr>
          <p:cNvPr id="9" name="Text 7"/>
          <p:cNvSpPr/>
          <p:nvPr/>
        </p:nvSpPr>
        <p:spPr>
          <a:xfrm>
            <a:off x="2183892"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Check Data</a:t>
            </a:r>
            <a:endParaRPr lang="en-US" sz="1050" dirty="0"/>
          </a:p>
        </p:txBody>
      </p:sp>
      <p:sp>
        <p:nvSpPr>
          <p:cNvPr id="10" name="Shape 8"/>
          <p:cNvSpPr/>
          <p:nvPr/>
        </p:nvSpPr>
        <p:spPr>
          <a:xfrm>
            <a:off x="3509772" y="1906524"/>
            <a:ext cx="245364" cy="164592"/>
          </a:xfrm>
          <a:prstGeom prst="rightArrow">
            <a:avLst/>
          </a:prstGeom>
          <a:solidFill>
            <a:srgbClr val="CBDDC4"/>
          </a:solidFill>
          <a:ln/>
        </p:spPr>
      </p:sp>
      <p:sp>
        <p:nvSpPr>
          <p:cNvPr id="11" name="Shape 9"/>
          <p:cNvSpPr/>
          <p:nvPr/>
        </p:nvSpPr>
        <p:spPr>
          <a:xfrm>
            <a:off x="3773424" y="1600200"/>
            <a:ext cx="1371600" cy="777240"/>
          </a:xfrm>
          <a:prstGeom prst="roundRect">
            <a:avLst>
              <a:gd name="adj" fmla="val 9412"/>
            </a:avLst>
          </a:prstGeom>
          <a:solidFill>
            <a:srgbClr val="5F943C"/>
          </a:solidFill>
          <a:ln/>
        </p:spPr>
      </p:sp>
      <p:sp>
        <p:nvSpPr>
          <p:cNvPr id="12" name="Text 10"/>
          <p:cNvSpPr/>
          <p:nvPr/>
        </p:nvSpPr>
        <p:spPr>
          <a:xfrm>
            <a:off x="3819144"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Identify Issues</a:t>
            </a:r>
            <a:endParaRPr lang="en-US" sz="1050" dirty="0"/>
          </a:p>
        </p:txBody>
      </p:sp>
      <p:sp>
        <p:nvSpPr>
          <p:cNvPr id="13" name="Shape 11"/>
          <p:cNvSpPr/>
          <p:nvPr/>
        </p:nvSpPr>
        <p:spPr>
          <a:xfrm>
            <a:off x="5145024" y="1906524"/>
            <a:ext cx="245364" cy="164592"/>
          </a:xfrm>
          <a:prstGeom prst="rightArrow">
            <a:avLst/>
          </a:prstGeom>
          <a:solidFill>
            <a:srgbClr val="CBDDC4"/>
          </a:solidFill>
          <a:ln/>
        </p:spPr>
      </p:sp>
      <p:sp>
        <p:nvSpPr>
          <p:cNvPr id="14" name="Shape 12"/>
          <p:cNvSpPr/>
          <p:nvPr/>
        </p:nvSpPr>
        <p:spPr>
          <a:xfrm>
            <a:off x="5408676" y="1600200"/>
            <a:ext cx="1371600" cy="777240"/>
          </a:xfrm>
          <a:prstGeom prst="roundRect">
            <a:avLst>
              <a:gd name="adj" fmla="val 9412"/>
            </a:avLst>
          </a:prstGeom>
          <a:solidFill>
            <a:srgbClr val="6FAD47"/>
          </a:solidFill>
          <a:ln/>
        </p:spPr>
      </p:sp>
      <p:sp>
        <p:nvSpPr>
          <p:cNvPr id="15" name="Text 13"/>
          <p:cNvSpPr/>
          <p:nvPr/>
        </p:nvSpPr>
        <p:spPr>
          <a:xfrm>
            <a:off x="5454396"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Clean Data</a:t>
            </a:r>
            <a:endParaRPr lang="en-US" sz="1050" dirty="0"/>
          </a:p>
        </p:txBody>
      </p:sp>
      <p:sp>
        <p:nvSpPr>
          <p:cNvPr id="16" name="Shape 14"/>
          <p:cNvSpPr/>
          <p:nvPr/>
        </p:nvSpPr>
        <p:spPr>
          <a:xfrm>
            <a:off x="6780276" y="1906524"/>
            <a:ext cx="245364" cy="164592"/>
          </a:xfrm>
          <a:prstGeom prst="rightArrow">
            <a:avLst/>
          </a:prstGeom>
          <a:solidFill>
            <a:srgbClr val="CBDDC4"/>
          </a:solidFill>
          <a:ln/>
        </p:spPr>
      </p:sp>
      <p:sp>
        <p:nvSpPr>
          <p:cNvPr id="17" name="Shape 15"/>
          <p:cNvSpPr/>
          <p:nvPr/>
        </p:nvSpPr>
        <p:spPr>
          <a:xfrm>
            <a:off x="7043928" y="1600200"/>
            <a:ext cx="1371600" cy="777240"/>
          </a:xfrm>
          <a:prstGeom prst="roundRect">
            <a:avLst>
              <a:gd name="adj" fmla="val 9412"/>
            </a:avLst>
          </a:prstGeom>
          <a:solidFill>
            <a:srgbClr val="5F943C"/>
          </a:solidFill>
          <a:ln/>
        </p:spPr>
      </p:sp>
      <p:sp>
        <p:nvSpPr>
          <p:cNvPr id="18" name="Text 16"/>
          <p:cNvSpPr/>
          <p:nvPr/>
        </p:nvSpPr>
        <p:spPr>
          <a:xfrm>
            <a:off x="7089648"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Standardize Data</a:t>
            </a:r>
            <a:endParaRPr lang="en-US" sz="1050" dirty="0"/>
          </a:p>
        </p:txBody>
      </p:sp>
      <p:sp>
        <p:nvSpPr>
          <p:cNvPr id="19" name="Shape 17"/>
          <p:cNvSpPr/>
          <p:nvPr/>
        </p:nvSpPr>
        <p:spPr>
          <a:xfrm>
            <a:off x="8415528" y="1906524"/>
            <a:ext cx="245364" cy="164592"/>
          </a:xfrm>
          <a:prstGeom prst="rightArrow">
            <a:avLst/>
          </a:prstGeom>
          <a:solidFill>
            <a:srgbClr val="CBDDC4"/>
          </a:solidFill>
          <a:ln/>
        </p:spPr>
      </p:sp>
      <p:sp>
        <p:nvSpPr>
          <p:cNvPr id="20" name="Shape 18"/>
          <p:cNvSpPr/>
          <p:nvPr/>
        </p:nvSpPr>
        <p:spPr>
          <a:xfrm>
            <a:off x="8679180" y="1600200"/>
            <a:ext cx="1371600" cy="777240"/>
          </a:xfrm>
          <a:prstGeom prst="roundRect">
            <a:avLst>
              <a:gd name="adj" fmla="val 9412"/>
            </a:avLst>
          </a:prstGeom>
          <a:solidFill>
            <a:srgbClr val="6FAD47"/>
          </a:solidFill>
          <a:ln/>
        </p:spPr>
      </p:sp>
      <p:sp>
        <p:nvSpPr>
          <p:cNvPr id="21" name="Text 19"/>
          <p:cNvSpPr/>
          <p:nvPr/>
        </p:nvSpPr>
        <p:spPr>
          <a:xfrm>
            <a:off x="8724900"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22" name="Shape 20"/>
          <p:cNvSpPr/>
          <p:nvPr/>
        </p:nvSpPr>
        <p:spPr>
          <a:xfrm>
            <a:off x="10050780" y="1906524"/>
            <a:ext cx="245364" cy="164592"/>
          </a:xfrm>
          <a:prstGeom prst="rightArrow">
            <a:avLst/>
          </a:prstGeom>
          <a:solidFill>
            <a:srgbClr val="CBDDC4"/>
          </a:solidFill>
          <a:ln/>
        </p:spPr>
      </p:sp>
      <p:sp>
        <p:nvSpPr>
          <p:cNvPr id="23" name="Shape 21"/>
          <p:cNvSpPr/>
          <p:nvPr/>
        </p:nvSpPr>
        <p:spPr>
          <a:xfrm>
            <a:off x="10314432" y="1600200"/>
            <a:ext cx="1371600" cy="777240"/>
          </a:xfrm>
          <a:prstGeom prst="roundRect">
            <a:avLst>
              <a:gd name="adj" fmla="val 9412"/>
            </a:avLst>
          </a:prstGeom>
          <a:solidFill>
            <a:srgbClr val="385724"/>
          </a:solidFill>
          <a:ln/>
        </p:spPr>
      </p:sp>
      <p:sp>
        <p:nvSpPr>
          <p:cNvPr id="24" name="Text 22"/>
          <p:cNvSpPr/>
          <p:nvPr/>
        </p:nvSpPr>
        <p:spPr>
          <a:xfrm>
            <a:off x="10360152" y="1600200"/>
            <a:ext cx="12801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Final Clean Data</a:t>
            </a:r>
            <a:endParaRPr lang="en-US" sz="1050" dirty="0"/>
          </a:p>
        </p:txBody>
      </p:sp>
      <p:sp>
        <p:nvSpPr>
          <p:cNvPr id="25" name="Shape 23"/>
          <p:cNvSpPr/>
          <p:nvPr/>
        </p:nvSpPr>
        <p:spPr>
          <a:xfrm>
            <a:off x="502920" y="2697480"/>
            <a:ext cx="3535680" cy="1600200"/>
          </a:xfrm>
          <a:prstGeom prst="roundRect">
            <a:avLst>
              <a:gd name="adj" fmla="val 4571"/>
            </a:avLst>
          </a:prstGeom>
          <a:solidFill>
            <a:srgbClr val="EEF4EA"/>
          </a:solidFill>
          <a:ln w="12700">
            <a:solidFill>
              <a:srgbClr val="CBDDC4"/>
            </a:solidFill>
            <a:prstDash val="solid"/>
          </a:ln>
        </p:spPr>
      </p:sp>
      <p:sp>
        <p:nvSpPr>
          <p:cNvPr id="26" name="Text 24"/>
          <p:cNvSpPr/>
          <p:nvPr/>
        </p:nvSpPr>
        <p:spPr>
          <a:xfrm>
            <a:off x="640080" y="2788920"/>
            <a:ext cx="3261360" cy="457200"/>
          </a:xfrm>
          <a:prstGeom prst="rect">
            <a:avLst/>
          </a:prstGeom>
          <a:noFill/>
          <a:ln/>
        </p:spPr>
        <p:txBody>
          <a:bodyPr wrap="square" rtlCol="0" anchor="ctr"/>
          <a:lstStyle/>
          <a:p>
            <a:pPr marL="0" indent="0">
              <a:buNone/>
            </a:pPr>
            <a:r>
              <a:rPr lang="en-US" sz="1150" b="1" dirty="0">
                <a:solidFill>
                  <a:srgbClr val="385724"/>
                </a:solidFill>
                <a:latin typeface="Calibri" pitchFamily="34" charset="0"/>
                <a:ea typeface="Calibri" pitchFamily="34" charset="-122"/>
                <a:cs typeface="Calibri" pitchFamily="34" charset="-120"/>
              </a:rPr>
              <a:t>1. Check for missing values</a:t>
            </a:r>
            <a:endParaRPr lang="en-US" sz="1150" dirty="0"/>
          </a:p>
        </p:txBody>
      </p:sp>
      <p:sp>
        <p:nvSpPr>
          <p:cNvPr id="27" name="Text 25"/>
          <p:cNvSpPr/>
          <p:nvPr/>
        </p:nvSpPr>
        <p:spPr>
          <a:xfrm>
            <a:off x="640080" y="3227832"/>
            <a:ext cx="3261360" cy="1005840"/>
          </a:xfrm>
          <a:prstGeom prst="rect">
            <a:avLst/>
          </a:prstGeom>
          <a:noFill/>
          <a:ln/>
        </p:spPr>
        <p:txBody>
          <a:bodyPr wrap="square" rtlCol="0" anchor="ctr"/>
          <a:lstStyle/>
          <a:p>
            <a:pPr marL="0" indent="0">
              <a:lnSpc>
                <a:spcPct val="115000"/>
              </a:lnSpc>
              <a:buNone/>
            </a:pPr>
            <a:r>
              <a:rPr lang="en-US" sz="950" dirty="0">
                <a:solidFill>
                  <a:srgbClr val="6B6B6B"/>
                </a:solidFill>
                <a:latin typeface="Calibri" pitchFamily="34" charset="0"/>
                <a:ea typeface="Calibri" pitchFamily="34" charset="-122"/>
                <a:cs typeface="Calibri" pitchFamily="34" charset="-120"/>
              </a:rPr>
              <a:t>Every column was scanned for blank or missing entries before cleaning began.</a:t>
            </a:r>
            <a:endParaRPr lang="en-US" sz="950" dirty="0"/>
          </a:p>
        </p:txBody>
      </p:sp>
      <p:sp>
        <p:nvSpPr>
          <p:cNvPr id="28" name="Shape 26"/>
          <p:cNvSpPr/>
          <p:nvPr/>
        </p:nvSpPr>
        <p:spPr>
          <a:xfrm>
            <a:off x="4267200" y="2697480"/>
            <a:ext cx="3535680" cy="1600200"/>
          </a:xfrm>
          <a:prstGeom prst="roundRect">
            <a:avLst>
              <a:gd name="adj" fmla="val 4571"/>
            </a:avLst>
          </a:prstGeom>
          <a:solidFill>
            <a:srgbClr val="EEF4EA"/>
          </a:solidFill>
          <a:ln w="12700">
            <a:solidFill>
              <a:srgbClr val="CBDDC4"/>
            </a:solidFill>
            <a:prstDash val="solid"/>
          </a:ln>
        </p:spPr>
      </p:sp>
      <p:sp>
        <p:nvSpPr>
          <p:cNvPr id="29" name="Text 27"/>
          <p:cNvSpPr/>
          <p:nvPr/>
        </p:nvSpPr>
        <p:spPr>
          <a:xfrm>
            <a:off x="4404360" y="2788920"/>
            <a:ext cx="3261360" cy="457200"/>
          </a:xfrm>
          <a:prstGeom prst="rect">
            <a:avLst/>
          </a:prstGeom>
          <a:noFill/>
          <a:ln/>
        </p:spPr>
        <p:txBody>
          <a:bodyPr wrap="square" rtlCol="0" anchor="ctr"/>
          <a:lstStyle/>
          <a:p>
            <a:pPr marL="0" indent="0">
              <a:buNone/>
            </a:pPr>
            <a:r>
              <a:rPr lang="en-US" sz="1150" b="1" dirty="0">
                <a:solidFill>
                  <a:srgbClr val="385724"/>
                </a:solidFill>
                <a:latin typeface="Calibri" pitchFamily="34" charset="0"/>
                <a:ea typeface="Calibri" pitchFamily="34" charset="-122"/>
                <a:cs typeface="Calibri" pitchFamily="34" charset="-120"/>
              </a:rPr>
              <a:t>2. Remove duplicate records</a:t>
            </a:r>
            <a:endParaRPr lang="en-US" sz="1150" dirty="0"/>
          </a:p>
        </p:txBody>
      </p:sp>
      <p:sp>
        <p:nvSpPr>
          <p:cNvPr id="30" name="Text 28"/>
          <p:cNvSpPr/>
          <p:nvPr/>
        </p:nvSpPr>
        <p:spPr>
          <a:xfrm>
            <a:off x="4404360" y="3227832"/>
            <a:ext cx="3261360" cy="1005840"/>
          </a:xfrm>
          <a:prstGeom prst="rect">
            <a:avLst/>
          </a:prstGeom>
          <a:noFill/>
          <a:ln/>
        </p:spPr>
        <p:txBody>
          <a:bodyPr wrap="square" rtlCol="0" anchor="ctr"/>
          <a:lstStyle/>
          <a:p>
            <a:pPr marL="0" indent="0">
              <a:lnSpc>
                <a:spcPct val="115000"/>
              </a:lnSpc>
              <a:buNone/>
            </a:pPr>
            <a:r>
              <a:rPr lang="en-US" sz="950" dirty="0">
                <a:solidFill>
                  <a:srgbClr val="6B6B6B"/>
                </a:solidFill>
                <a:latin typeface="Calibri" pitchFamily="34" charset="0"/>
                <a:ea typeface="Calibri" pitchFamily="34" charset="-122"/>
                <a:cs typeface="Calibri" pitchFamily="34" charset="-120"/>
              </a:rPr>
              <a:t>8 duplicate property records were identified and removed from the dataset.</a:t>
            </a:r>
            <a:endParaRPr lang="en-US" sz="950" dirty="0"/>
          </a:p>
        </p:txBody>
      </p:sp>
      <p:sp>
        <p:nvSpPr>
          <p:cNvPr id="31" name="Shape 29"/>
          <p:cNvSpPr/>
          <p:nvPr/>
        </p:nvSpPr>
        <p:spPr>
          <a:xfrm>
            <a:off x="8031480" y="2697480"/>
            <a:ext cx="3535680" cy="1600200"/>
          </a:xfrm>
          <a:prstGeom prst="roundRect">
            <a:avLst>
              <a:gd name="adj" fmla="val 4571"/>
            </a:avLst>
          </a:prstGeom>
          <a:solidFill>
            <a:srgbClr val="EEF4EA"/>
          </a:solidFill>
          <a:ln w="12700">
            <a:solidFill>
              <a:srgbClr val="CBDDC4"/>
            </a:solidFill>
            <a:prstDash val="solid"/>
          </a:ln>
        </p:spPr>
      </p:sp>
      <p:sp>
        <p:nvSpPr>
          <p:cNvPr id="32" name="Text 30"/>
          <p:cNvSpPr/>
          <p:nvPr/>
        </p:nvSpPr>
        <p:spPr>
          <a:xfrm>
            <a:off x="8168640" y="2788920"/>
            <a:ext cx="3261360" cy="457200"/>
          </a:xfrm>
          <a:prstGeom prst="rect">
            <a:avLst/>
          </a:prstGeom>
          <a:noFill/>
          <a:ln/>
        </p:spPr>
        <p:txBody>
          <a:bodyPr wrap="square" rtlCol="0" anchor="ctr"/>
          <a:lstStyle/>
          <a:p>
            <a:pPr marL="0" indent="0">
              <a:buNone/>
            </a:pPr>
            <a:r>
              <a:rPr lang="en-US" sz="1150" b="1" dirty="0">
                <a:solidFill>
                  <a:srgbClr val="385724"/>
                </a:solidFill>
                <a:latin typeface="Calibri" pitchFamily="34" charset="0"/>
                <a:ea typeface="Calibri" pitchFamily="34" charset="-122"/>
                <a:cs typeface="Calibri" pitchFamily="34" charset="-120"/>
              </a:rPr>
              <a:t>3. Handle missing values</a:t>
            </a:r>
            <a:endParaRPr lang="en-US" sz="1150" dirty="0"/>
          </a:p>
        </p:txBody>
      </p:sp>
      <p:sp>
        <p:nvSpPr>
          <p:cNvPr id="33" name="Text 31"/>
          <p:cNvSpPr/>
          <p:nvPr/>
        </p:nvSpPr>
        <p:spPr>
          <a:xfrm>
            <a:off x="8168640" y="3227832"/>
            <a:ext cx="3261360" cy="1005840"/>
          </a:xfrm>
          <a:prstGeom prst="rect">
            <a:avLst/>
          </a:prstGeom>
          <a:noFill/>
          <a:ln/>
        </p:spPr>
        <p:txBody>
          <a:bodyPr wrap="square" rtlCol="0" anchor="ctr"/>
          <a:lstStyle/>
          <a:p>
            <a:pPr marL="0" indent="0">
              <a:lnSpc>
                <a:spcPct val="115000"/>
              </a:lnSpc>
              <a:buNone/>
            </a:pPr>
            <a:r>
              <a:rPr lang="en-US" sz="950" dirty="0">
                <a:solidFill>
                  <a:srgbClr val="6B6B6B"/>
                </a:solidFill>
                <a:latin typeface="Calibri" pitchFamily="34" charset="0"/>
                <a:ea typeface="Calibri" pitchFamily="34" charset="-122"/>
                <a:cs typeface="Calibri" pitchFamily="34" charset="-120"/>
              </a:rPr>
              <a:t>Missing Property_ID, Property_Type, Location and Listing_Date entries were replaced with clear "Unknown" placeholders instead of being left blank.</a:t>
            </a:r>
            <a:endParaRPr lang="en-US" sz="950" dirty="0"/>
          </a:p>
        </p:txBody>
      </p:sp>
      <p:sp>
        <p:nvSpPr>
          <p:cNvPr id="34" name="Shape 32"/>
          <p:cNvSpPr/>
          <p:nvPr/>
        </p:nvSpPr>
        <p:spPr>
          <a:xfrm>
            <a:off x="502920" y="4480560"/>
            <a:ext cx="3535680" cy="1600200"/>
          </a:xfrm>
          <a:prstGeom prst="roundRect">
            <a:avLst>
              <a:gd name="adj" fmla="val 4571"/>
            </a:avLst>
          </a:prstGeom>
          <a:solidFill>
            <a:srgbClr val="EEF4EA"/>
          </a:solidFill>
          <a:ln w="12700">
            <a:solidFill>
              <a:srgbClr val="CBDDC4"/>
            </a:solidFill>
            <a:prstDash val="solid"/>
          </a:ln>
        </p:spPr>
      </p:sp>
      <p:sp>
        <p:nvSpPr>
          <p:cNvPr id="35" name="Text 33"/>
          <p:cNvSpPr/>
          <p:nvPr/>
        </p:nvSpPr>
        <p:spPr>
          <a:xfrm>
            <a:off x="640080" y="4572000"/>
            <a:ext cx="3261360" cy="457200"/>
          </a:xfrm>
          <a:prstGeom prst="rect">
            <a:avLst/>
          </a:prstGeom>
          <a:noFill/>
          <a:ln/>
        </p:spPr>
        <p:txBody>
          <a:bodyPr wrap="square" rtlCol="0" anchor="ctr"/>
          <a:lstStyle/>
          <a:p>
            <a:pPr marL="0" indent="0">
              <a:buNone/>
            </a:pPr>
            <a:r>
              <a:rPr lang="en-US" sz="1150" b="1" dirty="0">
                <a:solidFill>
                  <a:srgbClr val="385724"/>
                </a:solidFill>
                <a:latin typeface="Calibri" pitchFamily="34" charset="0"/>
                <a:ea typeface="Calibri" pitchFamily="34" charset="-122"/>
                <a:cs typeface="Calibri" pitchFamily="34" charset="-120"/>
              </a:rPr>
              <a:t>4. Standardize text fields</a:t>
            </a:r>
            <a:endParaRPr lang="en-US" sz="1150" dirty="0"/>
          </a:p>
        </p:txBody>
      </p:sp>
      <p:sp>
        <p:nvSpPr>
          <p:cNvPr id="36" name="Text 34"/>
          <p:cNvSpPr/>
          <p:nvPr/>
        </p:nvSpPr>
        <p:spPr>
          <a:xfrm>
            <a:off x="640080" y="5010912"/>
            <a:ext cx="3261360" cy="1005840"/>
          </a:xfrm>
          <a:prstGeom prst="rect">
            <a:avLst/>
          </a:prstGeom>
          <a:noFill/>
          <a:ln/>
        </p:spPr>
        <p:txBody>
          <a:bodyPr wrap="square" rtlCol="0" anchor="ctr"/>
          <a:lstStyle/>
          <a:p>
            <a:pPr marL="0" indent="0">
              <a:lnSpc>
                <a:spcPct val="115000"/>
              </a:lnSpc>
              <a:buNone/>
            </a:pPr>
            <a:r>
              <a:rPr lang="en-US" sz="950" dirty="0">
                <a:solidFill>
                  <a:srgbClr val="6B6B6B"/>
                </a:solidFill>
                <a:latin typeface="Calibri" pitchFamily="34" charset="0"/>
                <a:ea typeface="Calibri" pitchFamily="34" charset="-122"/>
                <a:cs typeface="Calibri" pitchFamily="34" charset="-120"/>
              </a:rPr>
              <a:t>Property_Type and Location values were standardized into consistent categories (Standardized / Standardized2 columns).</a:t>
            </a:r>
            <a:endParaRPr lang="en-US" sz="950" dirty="0"/>
          </a:p>
        </p:txBody>
      </p:sp>
      <p:sp>
        <p:nvSpPr>
          <p:cNvPr id="37" name="Shape 35"/>
          <p:cNvSpPr/>
          <p:nvPr/>
        </p:nvSpPr>
        <p:spPr>
          <a:xfrm>
            <a:off x="4267200" y="4480560"/>
            <a:ext cx="3535680" cy="1600200"/>
          </a:xfrm>
          <a:prstGeom prst="roundRect">
            <a:avLst>
              <a:gd name="adj" fmla="val 4571"/>
            </a:avLst>
          </a:prstGeom>
          <a:solidFill>
            <a:srgbClr val="EEF4EA"/>
          </a:solidFill>
          <a:ln w="12700">
            <a:solidFill>
              <a:srgbClr val="CBDDC4"/>
            </a:solidFill>
            <a:prstDash val="solid"/>
          </a:ln>
        </p:spPr>
      </p:sp>
      <p:sp>
        <p:nvSpPr>
          <p:cNvPr id="38" name="Text 36"/>
          <p:cNvSpPr/>
          <p:nvPr/>
        </p:nvSpPr>
        <p:spPr>
          <a:xfrm>
            <a:off x="4404360" y="4572000"/>
            <a:ext cx="3261360" cy="457200"/>
          </a:xfrm>
          <a:prstGeom prst="rect">
            <a:avLst/>
          </a:prstGeom>
          <a:noFill/>
          <a:ln/>
        </p:spPr>
        <p:txBody>
          <a:bodyPr wrap="square" rtlCol="0" anchor="ctr"/>
          <a:lstStyle/>
          <a:p>
            <a:pPr marL="0" indent="0">
              <a:buNone/>
            </a:pPr>
            <a:r>
              <a:rPr lang="en-US" sz="1150" b="1" dirty="0">
                <a:solidFill>
                  <a:srgbClr val="385724"/>
                </a:solidFill>
                <a:latin typeface="Calibri" pitchFamily="34" charset="0"/>
                <a:ea typeface="Calibri" pitchFamily="34" charset="-122"/>
                <a:cs typeface="Calibri" pitchFamily="34" charset="-120"/>
              </a:rPr>
              <a:t>5. Extract and derive fields</a:t>
            </a:r>
            <a:endParaRPr lang="en-US" sz="1150" dirty="0"/>
          </a:p>
        </p:txBody>
      </p:sp>
      <p:sp>
        <p:nvSpPr>
          <p:cNvPr id="39" name="Text 37"/>
          <p:cNvSpPr/>
          <p:nvPr/>
        </p:nvSpPr>
        <p:spPr>
          <a:xfrm>
            <a:off x="4404360" y="5010912"/>
            <a:ext cx="3261360" cy="1005840"/>
          </a:xfrm>
          <a:prstGeom prst="rect">
            <a:avLst/>
          </a:prstGeom>
          <a:noFill/>
          <a:ln/>
        </p:spPr>
        <p:txBody>
          <a:bodyPr wrap="square" rtlCol="0" anchor="ctr"/>
          <a:lstStyle/>
          <a:p>
            <a:pPr marL="0" indent="0">
              <a:lnSpc>
                <a:spcPct val="115000"/>
              </a:lnSpc>
              <a:buNone/>
            </a:pPr>
            <a:r>
              <a:rPr lang="en-US" sz="950" dirty="0">
                <a:solidFill>
                  <a:srgbClr val="6B6B6B"/>
                </a:solidFill>
                <a:latin typeface="Calibri" pitchFamily="34" charset="0"/>
                <a:ea typeface="Calibri" pitchFamily="34" charset="-122"/>
                <a:cs typeface="Calibri" pitchFamily="34" charset="-120"/>
              </a:rPr>
              <a:t>Extra columns were built to support analysis: ID_Extracted, Days Since Listing, Location Length, Price_Category and Year_Colomn.</a:t>
            </a:r>
            <a:endParaRPr lang="en-US" sz="950" dirty="0"/>
          </a:p>
        </p:txBody>
      </p:sp>
      <p:sp>
        <p:nvSpPr>
          <p:cNvPr id="40" name="Shape 38"/>
          <p:cNvSpPr/>
          <p:nvPr/>
        </p:nvSpPr>
        <p:spPr>
          <a:xfrm>
            <a:off x="8031480" y="4480560"/>
            <a:ext cx="3535680" cy="1600200"/>
          </a:xfrm>
          <a:prstGeom prst="roundRect">
            <a:avLst>
              <a:gd name="adj" fmla="val 4571"/>
            </a:avLst>
          </a:prstGeom>
          <a:solidFill>
            <a:srgbClr val="EEF4EA"/>
          </a:solidFill>
          <a:ln w="12700">
            <a:solidFill>
              <a:srgbClr val="CBDDC4"/>
            </a:solidFill>
            <a:prstDash val="solid"/>
          </a:ln>
        </p:spPr>
      </p:sp>
      <p:sp>
        <p:nvSpPr>
          <p:cNvPr id="41" name="Text 39"/>
          <p:cNvSpPr/>
          <p:nvPr/>
        </p:nvSpPr>
        <p:spPr>
          <a:xfrm>
            <a:off x="8168640" y="4572000"/>
            <a:ext cx="3261360" cy="457200"/>
          </a:xfrm>
          <a:prstGeom prst="rect">
            <a:avLst/>
          </a:prstGeom>
          <a:noFill/>
          <a:ln/>
        </p:spPr>
        <p:txBody>
          <a:bodyPr wrap="square" rtlCol="0" anchor="ctr"/>
          <a:lstStyle/>
          <a:p>
            <a:pPr marL="0" indent="0">
              <a:buNone/>
            </a:pPr>
            <a:r>
              <a:rPr lang="en-US" sz="1150" b="1" dirty="0">
                <a:solidFill>
                  <a:srgbClr val="385724"/>
                </a:solidFill>
                <a:latin typeface="Calibri" pitchFamily="34" charset="0"/>
                <a:ea typeface="Calibri" pitchFamily="34" charset="-122"/>
                <a:cs typeface="Calibri" pitchFamily="34" charset="-120"/>
              </a:rPr>
              <a:t>6. Validate the final dataset</a:t>
            </a:r>
            <a:endParaRPr lang="en-US" sz="1150" dirty="0"/>
          </a:p>
        </p:txBody>
      </p:sp>
      <p:sp>
        <p:nvSpPr>
          <p:cNvPr id="42" name="Text 40"/>
          <p:cNvSpPr/>
          <p:nvPr/>
        </p:nvSpPr>
        <p:spPr>
          <a:xfrm>
            <a:off x="8168640" y="5010912"/>
            <a:ext cx="3261360" cy="1005840"/>
          </a:xfrm>
          <a:prstGeom prst="rect">
            <a:avLst/>
          </a:prstGeom>
          <a:noFill/>
          <a:ln/>
        </p:spPr>
        <p:txBody>
          <a:bodyPr wrap="square" rtlCol="0" anchor="ctr"/>
          <a:lstStyle/>
          <a:p>
            <a:pPr marL="0" indent="0">
              <a:lnSpc>
                <a:spcPct val="115000"/>
              </a:lnSpc>
              <a:buNone/>
            </a:pPr>
            <a:r>
              <a:rPr lang="en-US" sz="950" dirty="0">
                <a:solidFill>
                  <a:srgbClr val="6B6B6B"/>
                </a:solidFill>
                <a:latin typeface="Calibri" pitchFamily="34" charset="0"/>
                <a:ea typeface="Calibri" pitchFamily="34" charset="-122"/>
                <a:cs typeface="Calibri" pitchFamily="34" charset="-120"/>
              </a:rPr>
              <a:t>The cleaned dataset was checked again, confirming 292 records with 0 duplicates and 0 missing values.</a:t>
            </a:r>
            <a:endParaRPr lang="en-US" sz="950" dirty="0"/>
          </a:p>
        </p:txBody>
      </p:sp>
      <p:sp>
        <p:nvSpPr>
          <p:cNvPr id="43" name="Text 41"/>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5/10</a:t>
            </a:r>
            <a:endParaRPr lang="en-US" sz="1000" dirty="0"/>
          </a:p>
        </p:txBody>
      </p:sp>
      <p:sp>
        <p:nvSpPr>
          <p:cNvPr id="44" name="Text 42"/>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Data Analysis</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Properties by location and property type</a:t>
            </a:r>
            <a:endParaRPr lang="en-US" sz="1300" dirty="0"/>
          </a:p>
        </p:txBody>
      </p:sp>
      <p:sp>
        <p:nvSpPr>
          <p:cNvPr id="5" name="Text 3"/>
          <p:cNvSpPr/>
          <p:nvPr/>
        </p:nvSpPr>
        <p:spPr>
          <a:xfrm>
            <a:off x="502920" y="1280160"/>
            <a:ext cx="6035040" cy="32004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Properties by Location</a:t>
            </a:r>
            <a:endParaRPr lang="en-US" sz="1300" dirty="0"/>
          </a:p>
        </p:txBody>
      </p:sp>
      <p:graphicFrame>
        <p:nvGraphicFramePr>
          <p:cNvPr id="6" name="Chart 0"/>
          <p:cNvGraphicFramePr/>
          <p:nvPr/>
        </p:nvGraphicFramePr>
        <p:xfrm>
          <a:off x="365760" y="1554480"/>
          <a:ext cx="63093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949440" y="1280160"/>
            <a:ext cx="4754880" cy="32004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Property Type Distribution (count)</a:t>
            </a:r>
            <a:endParaRPr lang="en-US" sz="1300" dirty="0"/>
          </a:p>
        </p:txBody>
      </p:sp>
      <p:graphicFrame>
        <p:nvGraphicFramePr>
          <p:cNvPr id="8" name="Chart 1"/>
          <p:cNvGraphicFramePr/>
          <p:nvPr/>
        </p:nvGraphicFramePr>
        <p:xfrm>
          <a:off x="6858000" y="1554480"/>
          <a:ext cx="484632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02920" y="4526280"/>
            <a:ext cx="11155680" cy="0"/>
          </a:xfrm>
          <a:prstGeom prst="line">
            <a:avLst/>
          </a:prstGeom>
          <a:noFill/>
          <a:ln w="12700">
            <a:solidFill>
              <a:srgbClr val="CBDDC4"/>
            </a:solidFill>
            <a:prstDash val="solid"/>
          </a:ln>
        </p:spPr>
      </p:sp>
      <p:sp>
        <p:nvSpPr>
          <p:cNvPr id="10" name="Text 6"/>
          <p:cNvSpPr/>
          <p:nvPr/>
        </p:nvSpPr>
        <p:spPr>
          <a:xfrm>
            <a:off x="502920" y="4754880"/>
            <a:ext cx="2628900" cy="29260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Top location</a:t>
            </a:r>
            <a:endParaRPr lang="en-US" sz="1050" dirty="0"/>
          </a:p>
        </p:txBody>
      </p:sp>
      <p:sp>
        <p:nvSpPr>
          <p:cNvPr id="11" name="Text 7"/>
          <p:cNvSpPr/>
          <p:nvPr/>
        </p:nvSpPr>
        <p:spPr>
          <a:xfrm>
            <a:off x="502920" y="5047488"/>
            <a:ext cx="2628900" cy="45720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Mogadishu — 101 listings</a:t>
            </a:r>
            <a:endParaRPr lang="en-US" sz="1300" dirty="0"/>
          </a:p>
        </p:txBody>
      </p:sp>
      <p:sp>
        <p:nvSpPr>
          <p:cNvPr id="12" name="Text 8"/>
          <p:cNvSpPr/>
          <p:nvPr/>
        </p:nvSpPr>
        <p:spPr>
          <a:xfrm>
            <a:off x="3314700" y="4754880"/>
            <a:ext cx="2628900" cy="29260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Most common type</a:t>
            </a:r>
            <a:endParaRPr lang="en-US" sz="1050" dirty="0"/>
          </a:p>
        </p:txBody>
      </p:sp>
      <p:sp>
        <p:nvSpPr>
          <p:cNvPr id="13" name="Text 9"/>
          <p:cNvSpPr/>
          <p:nvPr/>
        </p:nvSpPr>
        <p:spPr>
          <a:xfrm>
            <a:off x="3314700" y="5047488"/>
            <a:ext cx="2628900" cy="45720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Apartment — 96 properties</a:t>
            </a:r>
            <a:endParaRPr lang="en-US" sz="1300" dirty="0"/>
          </a:p>
        </p:txBody>
      </p:sp>
      <p:sp>
        <p:nvSpPr>
          <p:cNvPr id="14" name="Text 10"/>
          <p:cNvSpPr/>
          <p:nvPr/>
        </p:nvSpPr>
        <p:spPr>
          <a:xfrm>
            <a:off x="6126480" y="4754880"/>
            <a:ext cx="2628900" cy="29260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Average price</a:t>
            </a:r>
            <a:endParaRPr lang="en-US" sz="1050" dirty="0"/>
          </a:p>
        </p:txBody>
      </p:sp>
      <p:sp>
        <p:nvSpPr>
          <p:cNvPr id="15" name="Text 11"/>
          <p:cNvSpPr/>
          <p:nvPr/>
        </p:nvSpPr>
        <p:spPr>
          <a:xfrm>
            <a:off x="6126480" y="5047488"/>
            <a:ext cx="2628900" cy="45720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$178,870.73</a:t>
            </a:r>
            <a:endParaRPr lang="en-US" sz="1300" dirty="0"/>
          </a:p>
        </p:txBody>
      </p:sp>
      <p:sp>
        <p:nvSpPr>
          <p:cNvPr id="16" name="Text 12"/>
          <p:cNvSpPr/>
          <p:nvPr/>
        </p:nvSpPr>
        <p:spPr>
          <a:xfrm>
            <a:off x="8938260" y="4754880"/>
            <a:ext cx="2628900" cy="292608"/>
          </a:xfrm>
          <a:prstGeom prst="rect">
            <a:avLst/>
          </a:prstGeom>
          <a:noFill/>
          <a:ln/>
        </p:spPr>
        <p:txBody>
          <a:bodyPr wrap="square" rtlCol="0" anchor="ctr"/>
          <a:lstStyle/>
          <a:p>
            <a:pPr marL="0" indent="0">
              <a:buNone/>
            </a:pPr>
            <a:r>
              <a:rPr lang="en-US" sz="1050" dirty="0">
                <a:solidFill>
                  <a:srgbClr val="6B6B6B"/>
                </a:solidFill>
                <a:latin typeface="Calibri" pitchFamily="34" charset="0"/>
                <a:ea typeface="Calibri" pitchFamily="34" charset="-122"/>
                <a:cs typeface="Calibri" pitchFamily="34" charset="-120"/>
              </a:rPr>
              <a:t>Average size</a:t>
            </a:r>
            <a:endParaRPr lang="en-US" sz="1050" dirty="0"/>
          </a:p>
        </p:txBody>
      </p:sp>
      <p:sp>
        <p:nvSpPr>
          <p:cNvPr id="17" name="Text 13"/>
          <p:cNvSpPr/>
          <p:nvPr/>
        </p:nvSpPr>
        <p:spPr>
          <a:xfrm>
            <a:off x="8938260" y="5047488"/>
            <a:ext cx="2628900" cy="45720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294.53 sqm</a:t>
            </a:r>
            <a:endParaRPr lang="en-US" sz="1300" dirty="0"/>
          </a:p>
        </p:txBody>
      </p:sp>
      <p:sp>
        <p:nvSpPr>
          <p:cNvPr id="18" name="Text 14"/>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6/10</a:t>
            </a:r>
            <a:endParaRPr lang="en-US" sz="1000" dirty="0"/>
          </a:p>
        </p:txBody>
      </p:sp>
      <p:sp>
        <p:nvSpPr>
          <p:cNvPr id="19" name="Text 15"/>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Dashboard &amp; Key Metrics</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Key numbers from the Excel dashboards</a:t>
            </a:r>
            <a:endParaRPr lang="en-US" sz="1300" dirty="0"/>
          </a:p>
        </p:txBody>
      </p:sp>
      <p:sp>
        <p:nvSpPr>
          <p:cNvPr id="5" name="Shape 3"/>
          <p:cNvSpPr/>
          <p:nvPr/>
        </p:nvSpPr>
        <p:spPr>
          <a:xfrm>
            <a:off x="502920" y="1325880"/>
            <a:ext cx="3566160" cy="1371600"/>
          </a:xfrm>
          <a:prstGeom prst="roundRect">
            <a:avLst>
              <a:gd name="adj" fmla="val 6000"/>
            </a:avLst>
          </a:prstGeom>
          <a:solidFill>
            <a:srgbClr val="385724"/>
          </a:solidFill>
          <a:ln/>
        </p:spPr>
      </p:sp>
      <p:pic>
        <p:nvPicPr>
          <p:cNvPr id="6" name="Image 0" descr="/home/claude/icons/home_FFFFFF.png"/>
          <p:cNvPicPr>
            <a:picLocks noChangeAspect="1"/>
          </p:cNvPicPr>
          <p:nvPr/>
        </p:nvPicPr>
        <p:blipFill>
          <a:blip r:embed="rId3"/>
          <a:stretch>
            <a:fillRect/>
          </a:stretch>
        </p:blipFill>
        <p:spPr>
          <a:xfrm>
            <a:off x="685800" y="1508760"/>
            <a:ext cx="457200" cy="457200"/>
          </a:xfrm>
          <a:prstGeom prst="rect">
            <a:avLst/>
          </a:prstGeom>
        </p:spPr>
      </p:pic>
      <p:sp>
        <p:nvSpPr>
          <p:cNvPr id="7" name="Text 4"/>
          <p:cNvSpPr/>
          <p:nvPr/>
        </p:nvSpPr>
        <p:spPr>
          <a:xfrm>
            <a:off x="1280160" y="1463040"/>
            <a:ext cx="2651760" cy="50292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292</a:t>
            </a:r>
            <a:endParaRPr lang="en-US" sz="1900" dirty="0"/>
          </a:p>
        </p:txBody>
      </p:sp>
      <p:sp>
        <p:nvSpPr>
          <p:cNvPr id="8" name="Text 5"/>
          <p:cNvSpPr/>
          <p:nvPr/>
        </p:nvSpPr>
        <p:spPr>
          <a:xfrm>
            <a:off x="1280160" y="1984248"/>
            <a:ext cx="2651760" cy="365760"/>
          </a:xfrm>
          <a:prstGeom prst="rect">
            <a:avLst/>
          </a:prstGeom>
          <a:noFill/>
          <a:ln/>
        </p:spPr>
        <p:txBody>
          <a:bodyPr wrap="square" rtlCol="0" anchor="ctr"/>
          <a:lstStyle/>
          <a:p>
            <a:pPr marL="0" indent="0" algn="l">
              <a:buNone/>
            </a:pPr>
            <a:r>
              <a:rPr lang="en-US" sz="1050" dirty="0">
                <a:solidFill>
                  <a:srgbClr val="CBDDC4"/>
                </a:solidFill>
                <a:latin typeface="Calibri" pitchFamily="34" charset="0"/>
                <a:ea typeface="Calibri" pitchFamily="34" charset="-122"/>
                <a:cs typeface="Calibri" pitchFamily="34" charset="-120"/>
              </a:rPr>
              <a:t>Total Properties</a:t>
            </a:r>
            <a:endParaRPr lang="en-US" sz="1050" dirty="0"/>
          </a:p>
        </p:txBody>
      </p:sp>
      <p:sp>
        <p:nvSpPr>
          <p:cNvPr id="9" name="Shape 6"/>
          <p:cNvSpPr/>
          <p:nvPr/>
        </p:nvSpPr>
        <p:spPr>
          <a:xfrm>
            <a:off x="4251960" y="1325880"/>
            <a:ext cx="3566160" cy="1371600"/>
          </a:xfrm>
          <a:prstGeom prst="roundRect">
            <a:avLst>
              <a:gd name="adj" fmla="val 6000"/>
            </a:avLst>
          </a:prstGeom>
          <a:solidFill>
            <a:srgbClr val="385724"/>
          </a:solidFill>
          <a:ln/>
        </p:spPr>
      </p:sp>
      <p:pic>
        <p:nvPicPr>
          <p:cNvPr id="10" name="Image 1" descr="/home/claude/icons/dollar_FFFFFF.png"/>
          <p:cNvPicPr>
            <a:picLocks noChangeAspect="1"/>
          </p:cNvPicPr>
          <p:nvPr/>
        </p:nvPicPr>
        <p:blipFill>
          <a:blip r:embed="rId4"/>
          <a:stretch>
            <a:fillRect/>
          </a:stretch>
        </p:blipFill>
        <p:spPr>
          <a:xfrm>
            <a:off x="4434840" y="1508760"/>
            <a:ext cx="457200" cy="457200"/>
          </a:xfrm>
          <a:prstGeom prst="rect">
            <a:avLst/>
          </a:prstGeom>
        </p:spPr>
      </p:pic>
      <p:sp>
        <p:nvSpPr>
          <p:cNvPr id="11" name="Text 7"/>
          <p:cNvSpPr/>
          <p:nvPr/>
        </p:nvSpPr>
        <p:spPr>
          <a:xfrm>
            <a:off x="5029200" y="1463040"/>
            <a:ext cx="2651760" cy="50292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$178,870.73</a:t>
            </a:r>
            <a:endParaRPr lang="en-US" sz="1900" dirty="0"/>
          </a:p>
        </p:txBody>
      </p:sp>
      <p:sp>
        <p:nvSpPr>
          <p:cNvPr id="12" name="Text 8"/>
          <p:cNvSpPr/>
          <p:nvPr/>
        </p:nvSpPr>
        <p:spPr>
          <a:xfrm>
            <a:off x="5029200" y="1984248"/>
            <a:ext cx="2651760" cy="365760"/>
          </a:xfrm>
          <a:prstGeom prst="rect">
            <a:avLst/>
          </a:prstGeom>
          <a:noFill/>
          <a:ln/>
        </p:spPr>
        <p:txBody>
          <a:bodyPr wrap="square" rtlCol="0" anchor="ctr"/>
          <a:lstStyle/>
          <a:p>
            <a:pPr marL="0" indent="0" algn="l">
              <a:buNone/>
            </a:pPr>
            <a:r>
              <a:rPr lang="en-US" sz="1050" dirty="0">
                <a:solidFill>
                  <a:srgbClr val="CBDDC4"/>
                </a:solidFill>
                <a:latin typeface="Calibri" pitchFamily="34" charset="0"/>
                <a:ea typeface="Calibri" pitchFamily="34" charset="-122"/>
                <a:cs typeface="Calibri" pitchFamily="34" charset="-120"/>
              </a:rPr>
              <a:t>Average Price</a:t>
            </a:r>
            <a:endParaRPr lang="en-US" sz="1050" dirty="0"/>
          </a:p>
        </p:txBody>
      </p:sp>
      <p:sp>
        <p:nvSpPr>
          <p:cNvPr id="13" name="Shape 9"/>
          <p:cNvSpPr/>
          <p:nvPr/>
        </p:nvSpPr>
        <p:spPr>
          <a:xfrm>
            <a:off x="8001000" y="1325880"/>
            <a:ext cx="3566160" cy="1371600"/>
          </a:xfrm>
          <a:prstGeom prst="roundRect">
            <a:avLst>
              <a:gd name="adj" fmla="val 6000"/>
            </a:avLst>
          </a:prstGeom>
          <a:solidFill>
            <a:srgbClr val="385724"/>
          </a:solidFill>
          <a:ln/>
        </p:spPr>
      </p:sp>
      <p:pic>
        <p:nvPicPr>
          <p:cNvPr id="14" name="Image 2" descr="/home/claude/icons/ruler_FFFFFF.png"/>
          <p:cNvPicPr>
            <a:picLocks noChangeAspect="1"/>
          </p:cNvPicPr>
          <p:nvPr/>
        </p:nvPicPr>
        <p:blipFill>
          <a:blip r:embed="rId5"/>
          <a:stretch>
            <a:fillRect/>
          </a:stretch>
        </p:blipFill>
        <p:spPr>
          <a:xfrm>
            <a:off x="8183880" y="1508760"/>
            <a:ext cx="457200" cy="457200"/>
          </a:xfrm>
          <a:prstGeom prst="rect">
            <a:avLst/>
          </a:prstGeom>
        </p:spPr>
      </p:pic>
      <p:sp>
        <p:nvSpPr>
          <p:cNvPr id="15" name="Text 10"/>
          <p:cNvSpPr/>
          <p:nvPr/>
        </p:nvSpPr>
        <p:spPr>
          <a:xfrm>
            <a:off x="8778240" y="1463040"/>
            <a:ext cx="2651760" cy="50292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294.53 sqm</a:t>
            </a:r>
            <a:endParaRPr lang="en-US" sz="1900" dirty="0"/>
          </a:p>
        </p:txBody>
      </p:sp>
      <p:sp>
        <p:nvSpPr>
          <p:cNvPr id="16" name="Text 11"/>
          <p:cNvSpPr/>
          <p:nvPr/>
        </p:nvSpPr>
        <p:spPr>
          <a:xfrm>
            <a:off x="8778240" y="1984248"/>
            <a:ext cx="2651760" cy="365760"/>
          </a:xfrm>
          <a:prstGeom prst="rect">
            <a:avLst/>
          </a:prstGeom>
          <a:noFill/>
          <a:ln/>
        </p:spPr>
        <p:txBody>
          <a:bodyPr wrap="square" rtlCol="0" anchor="ctr"/>
          <a:lstStyle/>
          <a:p>
            <a:pPr marL="0" indent="0" algn="l">
              <a:buNone/>
            </a:pPr>
            <a:r>
              <a:rPr lang="en-US" sz="1050" dirty="0">
                <a:solidFill>
                  <a:srgbClr val="CBDDC4"/>
                </a:solidFill>
                <a:latin typeface="Calibri" pitchFamily="34" charset="0"/>
                <a:ea typeface="Calibri" pitchFamily="34" charset="-122"/>
                <a:cs typeface="Calibri" pitchFamily="34" charset="-120"/>
              </a:rPr>
              <a:t>Average Size</a:t>
            </a:r>
            <a:endParaRPr lang="en-US" sz="1050" dirty="0"/>
          </a:p>
        </p:txBody>
      </p:sp>
      <p:sp>
        <p:nvSpPr>
          <p:cNvPr id="17" name="Shape 12"/>
          <p:cNvSpPr/>
          <p:nvPr/>
        </p:nvSpPr>
        <p:spPr>
          <a:xfrm>
            <a:off x="502920" y="2880360"/>
            <a:ext cx="3566160" cy="1371600"/>
          </a:xfrm>
          <a:prstGeom prst="roundRect">
            <a:avLst>
              <a:gd name="adj" fmla="val 6000"/>
            </a:avLst>
          </a:prstGeom>
          <a:solidFill>
            <a:srgbClr val="385724"/>
          </a:solidFill>
          <a:ln/>
        </p:spPr>
      </p:sp>
      <p:pic>
        <p:nvPicPr>
          <p:cNvPr id="18" name="Image 3" descr="/home/claude/icons/chart_FFFFFF.png"/>
          <p:cNvPicPr>
            <a:picLocks noChangeAspect="1"/>
          </p:cNvPicPr>
          <p:nvPr/>
        </p:nvPicPr>
        <p:blipFill>
          <a:blip r:embed="rId6"/>
          <a:stretch>
            <a:fillRect/>
          </a:stretch>
        </p:blipFill>
        <p:spPr>
          <a:xfrm>
            <a:off x="685800" y="3063240"/>
            <a:ext cx="457200" cy="457200"/>
          </a:xfrm>
          <a:prstGeom prst="rect">
            <a:avLst/>
          </a:prstGeom>
        </p:spPr>
      </p:pic>
      <p:sp>
        <p:nvSpPr>
          <p:cNvPr id="19" name="Text 13"/>
          <p:cNvSpPr/>
          <p:nvPr/>
        </p:nvSpPr>
        <p:spPr>
          <a:xfrm>
            <a:off x="1280160" y="3017520"/>
            <a:ext cx="2651760" cy="50292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$2,000,022</a:t>
            </a:r>
            <a:endParaRPr lang="en-US" sz="1900" dirty="0"/>
          </a:p>
        </p:txBody>
      </p:sp>
      <p:sp>
        <p:nvSpPr>
          <p:cNvPr id="20" name="Text 14"/>
          <p:cNvSpPr/>
          <p:nvPr/>
        </p:nvSpPr>
        <p:spPr>
          <a:xfrm>
            <a:off x="1280160" y="3538728"/>
            <a:ext cx="2651760" cy="365760"/>
          </a:xfrm>
          <a:prstGeom prst="rect">
            <a:avLst/>
          </a:prstGeom>
          <a:noFill/>
          <a:ln/>
        </p:spPr>
        <p:txBody>
          <a:bodyPr wrap="square" rtlCol="0" anchor="ctr"/>
          <a:lstStyle/>
          <a:p>
            <a:pPr marL="0" indent="0" algn="l">
              <a:buNone/>
            </a:pPr>
            <a:r>
              <a:rPr lang="en-US" sz="1050" dirty="0">
                <a:solidFill>
                  <a:srgbClr val="CBDDC4"/>
                </a:solidFill>
                <a:latin typeface="Calibri" pitchFamily="34" charset="0"/>
                <a:ea typeface="Calibri" pitchFamily="34" charset="-122"/>
                <a:cs typeface="Calibri" pitchFamily="34" charset="-120"/>
              </a:rPr>
              <a:t>Highest Price</a:t>
            </a:r>
            <a:endParaRPr lang="en-US" sz="1050" dirty="0"/>
          </a:p>
        </p:txBody>
      </p:sp>
      <p:sp>
        <p:nvSpPr>
          <p:cNvPr id="21" name="Shape 15"/>
          <p:cNvSpPr/>
          <p:nvPr/>
        </p:nvSpPr>
        <p:spPr>
          <a:xfrm>
            <a:off x="4251960" y="2880360"/>
            <a:ext cx="3566160" cy="1371600"/>
          </a:xfrm>
          <a:prstGeom prst="roundRect">
            <a:avLst>
              <a:gd name="adj" fmla="val 6000"/>
            </a:avLst>
          </a:prstGeom>
          <a:solidFill>
            <a:srgbClr val="385724"/>
          </a:solidFill>
          <a:ln/>
        </p:spPr>
      </p:sp>
      <p:pic>
        <p:nvPicPr>
          <p:cNvPr id="22" name="Image 4" descr="/home/claude/icons/bed_FFFFFF.png"/>
          <p:cNvPicPr>
            <a:picLocks noChangeAspect="1"/>
          </p:cNvPicPr>
          <p:nvPr/>
        </p:nvPicPr>
        <p:blipFill>
          <a:blip r:embed="rId7"/>
          <a:stretch>
            <a:fillRect/>
          </a:stretch>
        </p:blipFill>
        <p:spPr>
          <a:xfrm>
            <a:off x="4434840" y="3063240"/>
            <a:ext cx="457200" cy="457200"/>
          </a:xfrm>
          <a:prstGeom prst="rect">
            <a:avLst/>
          </a:prstGeom>
        </p:spPr>
      </p:pic>
      <p:sp>
        <p:nvSpPr>
          <p:cNvPr id="23" name="Text 16"/>
          <p:cNvSpPr/>
          <p:nvPr/>
        </p:nvSpPr>
        <p:spPr>
          <a:xfrm>
            <a:off x="5029200" y="3017520"/>
            <a:ext cx="2651760" cy="50292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767</a:t>
            </a:r>
            <a:endParaRPr lang="en-US" sz="1900" dirty="0"/>
          </a:p>
        </p:txBody>
      </p:sp>
      <p:sp>
        <p:nvSpPr>
          <p:cNvPr id="24" name="Text 17"/>
          <p:cNvSpPr/>
          <p:nvPr/>
        </p:nvSpPr>
        <p:spPr>
          <a:xfrm>
            <a:off x="5029200" y="3538728"/>
            <a:ext cx="2651760" cy="365760"/>
          </a:xfrm>
          <a:prstGeom prst="rect">
            <a:avLst/>
          </a:prstGeom>
          <a:noFill/>
          <a:ln/>
        </p:spPr>
        <p:txBody>
          <a:bodyPr wrap="square" rtlCol="0" anchor="ctr"/>
          <a:lstStyle/>
          <a:p>
            <a:pPr marL="0" indent="0" algn="l">
              <a:buNone/>
            </a:pPr>
            <a:r>
              <a:rPr lang="en-US" sz="1050" dirty="0">
                <a:solidFill>
                  <a:srgbClr val="CBDDC4"/>
                </a:solidFill>
                <a:latin typeface="Calibri" pitchFamily="34" charset="0"/>
                <a:ea typeface="Calibri" pitchFamily="34" charset="-122"/>
                <a:cs typeface="Calibri" pitchFamily="34" charset="-120"/>
              </a:rPr>
              <a:t>Total Bedrooms</a:t>
            </a:r>
            <a:endParaRPr lang="en-US" sz="1050" dirty="0"/>
          </a:p>
        </p:txBody>
      </p:sp>
      <p:sp>
        <p:nvSpPr>
          <p:cNvPr id="25" name="Shape 18"/>
          <p:cNvSpPr/>
          <p:nvPr/>
        </p:nvSpPr>
        <p:spPr>
          <a:xfrm>
            <a:off x="8001000" y="2880360"/>
            <a:ext cx="3566160" cy="1371600"/>
          </a:xfrm>
          <a:prstGeom prst="roundRect">
            <a:avLst>
              <a:gd name="adj" fmla="val 6000"/>
            </a:avLst>
          </a:prstGeom>
          <a:solidFill>
            <a:srgbClr val="385724"/>
          </a:solidFill>
          <a:ln/>
        </p:spPr>
      </p:sp>
      <p:pic>
        <p:nvPicPr>
          <p:cNvPr id="26" name="Image 5" descr="/home/claude/icons/building_FFFFFF.png"/>
          <p:cNvPicPr>
            <a:picLocks noChangeAspect="1"/>
          </p:cNvPicPr>
          <p:nvPr/>
        </p:nvPicPr>
        <p:blipFill>
          <a:blip r:embed="rId8"/>
          <a:stretch>
            <a:fillRect/>
          </a:stretch>
        </p:blipFill>
        <p:spPr>
          <a:xfrm>
            <a:off x="8183880" y="3063240"/>
            <a:ext cx="457200" cy="457200"/>
          </a:xfrm>
          <a:prstGeom prst="rect">
            <a:avLst/>
          </a:prstGeom>
        </p:spPr>
      </p:pic>
      <p:sp>
        <p:nvSpPr>
          <p:cNvPr id="27" name="Text 19"/>
          <p:cNvSpPr/>
          <p:nvPr/>
        </p:nvSpPr>
        <p:spPr>
          <a:xfrm>
            <a:off x="8778240" y="3017520"/>
            <a:ext cx="2651760" cy="50292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$52,230,254.08</a:t>
            </a:r>
            <a:endParaRPr lang="en-US" sz="1900" dirty="0"/>
          </a:p>
        </p:txBody>
      </p:sp>
      <p:sp>
        <p:nvSpPr>
          <p:cNvPr id="28" name="Text 20"/>
          <p:cNvSpPr/>
          <p:nvPr/>
        </p:nvSpPr>
        <p:spPr>
          <a:xfrm>
            <a:off x="8778240" y="3538728"/>
            <a:ext cx="2651760" cy="365760"/>
          </a:xfrm>
          <a:prstGeom prst="rect">
            <a:avLst/>
          </a:prstGeom>
          <a:noFill/>
          <a:ln/>
        </p:spPr>
        <p:txBody>
          <a:bodyPr wrap="square" rtlCol="0" anchor="ctr"/>
          <a:lstStyle/>
          <a:p>
            <a:pPr marL="0" indent="0" algn="l">
              <a:buNone/>
            </a:pPr>
            <a:r>
              <a:rPr lang="en-US" sz="1050" dirty="0">
                <a:solidFill>
                  <a:srgbClr val="CBDDC4"/>
                </a:solidFill>
                <a:latin typeface="Calibri" pitchFamily="34" charset="0"/>
                <a:ea typeface="Calibri" pitchFamily="34" charset="-122"/>
                <a:cs typeface="Calibri" pitchFamily="34" charset="-120"/>
              </a:rPr>
              <a:t>Total Property Value</a:t>
            </a:r>
            <a:endParaRPr lang="en-US" sz="1050" dirty="0"/>
          </a:p>
        </p:txBody>
      </p:sp>
      <p:sp>
        <p:nvSpPr>
          <p:cNvPr id="29" name="Text 21"/>
          <p:cNvSpPr/>
          <p:nvPr/>
        </p:nvSpPr>
        <p:spPr>
          <a:xfrm>
            <a:off x="502920" y="4434840"/>
            <a:ext cx="11064240" cy="320040"/>
          </a:xfrm>
          <a:prstGeom prst="rect">
            <a:avLst/>
          </a:prstGeom>
          <a:noFill/>
          <a:ln/>
        </p:spPr>
        <p:txBody>
          <a:bodyPr wrap="square" rtlCol="0" anchor="ctr"/>
          <a:lstStyle/>
          <a:p>
            <a:pPr marL="0" indent="0">
              <a:buNone/>
            </a:pPr>
            <a:r>
              <a:rPr lang="en-US" sz="1300" b="1" dirty="0">
                <a:solidFill>
                  <a:srgbClr val="385724"/>
                </a:solidFill>
                <a:latin typeface="Calibri" pitchFamily="34" charset="0"/>
                <a:ea typeface="Calibri" pitchFamily="34" charset="-122"/>
                <a:cs typeface="Calibri" pitchFamily="34" charset="-120"/>
              </a:rPr>
              <a:t>Average Property Price by Location</a:t>
            </a:r>
            <a:endParaRPr lang="en-US" sz="1300" dirty="0"/>
          </a:p>
        </p:txBody>
      </p:sp>
      <p:graphicFrame>
        <p:nvGraphicFramePr>
          <p:cNvPr id="30" name="Chart 0"/>
          <p:cNvGraphicFramePr/>
          <p:nvPr/>
        </p:nvGraphicFramePr>
        <p:xfrm>
          <a:off x="365760" y="4709160"/>
          <a:ext cx="11430000" cy="1645920"/>
        </p:xfrm>
        <a:graphic>
          <a:graphicData uri="http://schemas.openxmlformats.org/drawingml/2006/chart">
            <c:chart xmlns:c="http://schemas.openxmlformats.org/drawingml/2006/chart" xmlns:r="http://schemas.openxmlformats.org/officeDocument/2006/relationships" r:id="rId9"/>
          </a:graphicData>
        </a:graphic>
      </p:graphicFrame>
      <p:sp>
        <p:nvSpPr>
          <p:cNvPr id="31" name="Text 22"/>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7/10</a:t>
            </a:r>
            <a:endParaRPr lang="en-US" sz="1000" dirty="0"/>
          </a:p>
        </p:txBody>
      </p:sp>
      <p:sp>
        <p:nvSpPr>
          <p:cNvPr id="32" name="Text 23"/>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Key Findings</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What the analysis shows</a:t>
            </a:r>
            <a:endParaRPr lang="en-US" sz="1300" dirty="0"/>
          </a:p>
        </p:txBody>
      </p:sp>
      <p:sp>
        <p:nvSpPr>
          <p:cNvPr id="5" name="Shape 3"/>
          <p:cNvSpPr/>
          <p:nvPr/>
        </p:nvSpPr>
        <p:spPr>
          <a:xfrm>
            <a:off x="502920" y="1417320"/>
            <a:ext cx="5394960" cy="2331720"/>
          </a:xfrm>
          <a:prstGeom prst="roundRect">
            <a:avLst>
              <a:gd name="adj" fmla="val 3922"/>
            </a:avLst>
          </a:prstGeom>
          <a:solidFill>
            <a:srgbClr val="EEF4EA"/>
          </a:solidFill>
          <a:ln w="12700">
            <a:solidFill>
              <a:srgbClr val="CBDDC4"/>
            </a:solidFill>
            <a:prstDash val="solid"/>
          </a:ln>
        </p:spPr>
      </p:sp>
      <p:sp>
        <p:nvSpPr>
          <p:cNvPr id="6" name="Shape 4"/>
          <p:cNvSpPr/>
          <p:nvPr/>
        </p:nvSpPr>
        <p:spPr>
          <a:xfrm>
            <a:off x="777240" y="1691640"/>
            <a:ext cx="685800" cy="685800"/>
          </a:xfrm>
          <a:prstGeom prst="ellipse">
            <a:avLst/>
          </a:prstGeom>
          <a:solidFill>
            <a:srgbClr val="385724"/>
          </a:solidFill>
          <a:ln/>
        </p:spPr>
      </p:sp>
      <p:pic>
        <p:nvPicPr>
          <p:cNvPr id="7" name="Image 0" descr="/home/claude/icons/city_FFFFFF.png"/>
          <p:cNvPicPr>
            <a:picLocks noChangeAspect="1"/>
          </p:cNvPicPr>
          <p:nvPr/>
        </p:nvPicPr>
        <p:blipFill>
          <a:blip r:embed="rId3"/>
          <a:stretch>
            <a:fillRect/>
          </a:stretch>
        </p:blipFill>
        <p:spPr>
          <a:xfrm>
            <a:off x="941832" y="1856232"/>
            <a:ext cx="365760" cy="365760"/>
          </a:xfrm>
          <a:prstGeom prst="rect">
            <a:avLst/>
          </a:prstGeom>
        </p:spPr>
      </p:pic>
      <p:sp>
        <p:nvSpPr>
          <p:cNvPr id="8" name="Text 5"/>
          <p:cNvSpPr/>
          <p:nvPr/>
        </p:nvSpPr>
        <p:spPr>
          <a:xfrm>
            <a:off x="1645920" y="1673352"/>
            <a:ext cx="4023360" cy="685800"/>
          </a:xfrm>
          <a:prstGeom prst="rect">
            <a:avLst/>
          </a:prstGeom>
          <a:noFill/>
          <a:ln/>
        </p:spPr>
        <p:txBody>
          <a:bodyPr wrap="square" rtlCol="0" anchor="ctr"/>
          <a:lstStyle/>
          <a:p>
            <a:pPr marL="0" indent="0">
              <a:buNone/>
            </a:pPr>
            <a:r>
              <a:rPr lang="en-US" sz="1450" b="1" dirty="0">
                <a:solidFill>
                  <a:srgbClr val="385724"/>
                </a:solidFill>
                <a:latin typeface="Calibri" pitchFamily="34" charset="0"/>
                <a:ea typeface="Calibri" pitchFamily="34" charset="-122"/>
                <a:cs typeface="Calibri" pitchFamily="34" charset="-120"/>
              </a:rPr>
              <a:t>Mogadishu leads the market</a:t>
            </a:r>
            <a:endParaRPr lang="en-US" sz="1450" dirty="0"/>
          </a:p>
        </p:txBody>
      </p:sp>
      <p:sp>
        <p:nvSpPr>
          <p:cNvPr id="9" name="Text 6"/>
          <p:cNvSpPr/>
          <p:nvPr/>
        </p:nvSpPr>
        <p:spPr>
          <a:xfrm>
            <a:off x="777240" y="2514600"/>
            <a:ext cx="4846320" cy="1097280"/>
          </a:xfrm>
          <a:prstGeom prst="rect">
            <a:avLst/>
          </a:prstGeom>
          <a:noFill/>
          <a:ln/>
        </p:spPr>
        <p:txBody>
          <a:bodyPr wrap="square" rtlCol="0" anchor="ctr"/>
          <a:lstStyle/>
          <a:p>
            <a:pPr marL="0" indent="0">
              <a:lnSpc>
                <a:spcPct val="120000"/>
              </a:lnSpc>
              <a:buNone/>
            </a:pPr>
            <a:r>
              <a:rPr lang="en-US" sz="1150" dirty="0">
                <a:solidFill>
                  <a:srgbClr val="2B2B2B"/>
                </a:solidFill>
                <a:latin typeface="Calibri" pitchFamily="34" charset="0"/>
                <a:ea typeface="Calibri" pitchFamily="34" charset="-122"/>
                <a:cs typeface="Calibri" pitchFamily="34" charset="-120"/>
              </a:rPr>
              <a:t>Mogadishu has the highest number of properties, with 101 listings — the largest market in the dataset.</a:t>
            </a:r>
            <a:endParaRPr lang="en-US" sz="1150" dirty="0"/>
          </a:p>
        </p:txBody>
      </p:sp>
      <p:sp>
        <p:nvSpPr>
          <p:cNvPr id="10" name="Shape 7"/>
          <p:cNvSpPr/>
          <p:nvPr/>
        </p:nvSpPr>
        <p:spPr>
          <a:xfrm>
            <a:off x="6172200" y="1417320"/>
            <a:ext cx="5394960" cy="2331720"/>
          </a:xfrm>
          <a:prstGeom prst="roundRect">
            <a:avLst>
              <a:gd name="adj" fmla="val 3922"/>
            </a:avLst>
          </a:prstGeom>
          <a:solidFill>
            <a:srgbClr val="EEF4EA"/>
          </a:solidFill>
          <a:ln w="12700">
            <a:solidFill>
              <a:srgbClr val="CBDDC4"/>
            </a:solidFill>
            <a:prstDash val="solid"/>
          </a:ln>
        </p:spPr>
      </p:sp>
      <p:sp>
        <p:nvSpPr>
          <p:cNvPr id="11" name="Shape 8"/>
          <p:cNvSpPr/>
          <p:nvPr/>
        </p:nvSpPr>
        <p:spPr>
          <a:xfrm>
            <a:off x="6446520" y="1691640"/>
            <a:ext cx="685800" cy="685800"/>
          </a:xfrm>
          <a:prstGeom prst="ellipse">
            <a:avLst/>
          </a:prstGeom>
          <a:solidFill>
            <a:srgbClr val="385724"/>
          </a:solidFill>
          <a:ln/>
        </p:spPr>
      </p:sp>
      <p:pic>
        <p:nvPicPr>
          <p:cNvPr id="12" name="Image 1" descr="/home/claude/icons/building_FFFFFF.png"/>
          <p:cNvPicPr>
            <a:picLocks noChangeAspect="1"/>
          </p:cNvPicPr>
          <p:nvPr/>
        </p:nvPicPr>
        <p:blipFill>
          <a:blip r:embed="rId4"/>
          <a:stretch>
            <a:fillRect/>
          </a:stretch>
        </p:blipFill>
        <p:spPr>
          <a:xfrm>
            <a:off x="6611112" y="1856232"/>
            <a:ext cx="365760" cy="365760"/>
          </a:xfrm>
          <a:prstGeom prst="rect">
            <a:avLst/>
          </a:prstGeom>
        </p:spPr>
      </p:pic>
      <p:sp>
        <p:nvSpPr>
          <p:cNvPr id="13" name="Text 9"/>
          <p:cNvSpPr/>
          <p:nvPr/>
        </p:nvSpPr>
        <p:spPr>
          <a:xfrm>
            <a:off x="7315200" y="1673352"/>
            <a:ext cx="4023360" cy="685800"/>
          </a:xfrm>
          <a:prstGeom prst="rect">
            <a:avLst/>
          </a:prstGeom>
          <a:noFill/>
          <a:ln/>
        </p:spPr>
        <p:txBody>
          <a:bodyPr wrap="square" rtlCol="0" anchor="ctr"/>
          <a:lstStyle/>
          <a:p>
            <a:pPr marL="0" indent="0">
              <a:buNone/>
            </a:pPr>
            <a:r>
              <a:rPr lang="en-US" sz="1450" b="1" dirty="0">
                <a:solidFill>
                  <a:srgbClr val="385724"/>
                </a:solidFill>
                <a:latin typeface="Calibri" pitchFamily="34" charset="0"/>
                <a:ea typeface="Calibri" pitchFamily="34" charset="-122"/>
                <a:cs typeface="Calibri" pitchFamily="34" charset="-120"/>
              </a:rPr>
              <a:t>Apartments are most common</a:t>
            </a:r>
            <a:endParaRPr lang="en-US" sz="1450" dirty="0"/>
          </a:p>
        </p:txBody>
      </p:sp>
      <p:sp>
        <p:nvSpPr>
          <p:cNvPr id="14" name="Text 10"/>
          <p:cNvSpPr/>
          <p:nvPr/>
        </p:nvSpPr>
        <p:spPr>
          <a:xfrm>
            <a:off x="6446520" y="2514600"/>
            <a:ext cx="4846320" cy="1097280"/>
          </a:xfrm>
          <a:prstGeom prst="rect">
            <a:avLst/>
          </a:prstGeom>
          <a:noFill/>
          <a:ln/>
        </p:spPr>
        <p:txBody>
          <a:bodyPr wrap="square" rtlCol="0" anchor="ctr"/>
          <a:lstStyle/>
          <a:p>
            <a:pPr marL="0" indent="0">
              <a:lnSpc>
                <a:spcPct val="120000"/>
              </a:lnSpc>
              <a:buNone/>
            </a:pPr>
            <a:r>
              <a:rPr lang="en-US" sz="1150" dirty="0">
                <a:solidFill>
                  <a:srgbClr val="2B2B2B"/>
                </a:solidFill>
                <a:latin typeface="Calibri" pitchFamily="34" charset="0"/>
                <a:ea typeface="Calibri" pitchFamily="34" charset="-122"/>
                <a:cs typeface="Calibri" pitchFamily="34" charset="-120"/>
              </a:rPr>
              <a:t>Apartment is the most common property type, with 96 properties, followed by Houses with 59.</a:t>
            </a:r>
            <a:endParaRPr lang="en-US" sz="1150" dirty="0"/>
          </a:p>
        </p:txBody>
      </p:sp>
      <p:sp>
        <p:nvSpPr>
          <p:cNvPr id="15" name="Shape 11"/>
          <p:cNvSpPr/>
          <p:nvPr/>
        </p:nvSpPr>
        <p:spPr>
          <a:xfrm>
            <a:off x="502920" y="3977640"/>
            <a:ext cx="5394960" cy="2331720"/>
          </a:xfrm>
          <a:prstGeom prst="roundRect">
            <a:avLst>
              <a:gd name="adj" fmla="val 3922"/>
            </a:avLst>
          </a:prstGeom>
          <a:solidFill>
            <a:srgbClr val="EEF4EA"/>
          </a:solidFill>
          <a:ln w="12700">
            <a:solidFill>
              <a:srgbClr val="CBDDC4"/>
            </a:solidFill>
            <a:prstDash val="solid"/>
          </a:ln>
        </p:spPr>
      </p:sp>
      <p:sp>
        <p:nvSpPr>
          <p:cNvPr id="16" name="Shape 12"/>
          <p:cNvSpPr/>
          <p:nvPr/>
        </p:nvSpPr>
        <p:spPr>
          <a:xfrm>
            <a:off x="777240" y="4251960"/>
            <a:ext cx="685800" cy="685800"/>
          </a:xfrm>
          <a:prstGeom prst="ellipse">
            <a:avLst/>
          </a:prstGeom>
          <a:solidFill>
            <a:srgbClr val="385724"/>
          </a:solidFill>
          <a:ln/>
        </p:spPr>
      </p:sp>
      <p:pic>
        <p:nvPicPr>
          <p:cNvPr id="17" name="Image 2" descr="/home/claude/icons/dollar_FFFFFF.png"/>
          <p:cNvPicPr>
            <a:picLocks noChangeAspect="1"/>
          </p:cNvPicPr>
          <p:nvPr/>
        </p:nvPicPr>
        <p:blipFill>
          <a:blip r:embed="rId5"/>
          <a:stretch>
            <a:fillRect/>
          </a:stretch>
        </p:blipFill>
        <p:spPr>
          <a:xfrm>
            <a:off x="941832" y="4416552"/>
            <a:ext cx="365760" cy="365760"/>
          </a:xfrm>
          <a:prstGeom prst="rect">
            <a:avLst/>
          </a:prstGeom>
        </p:spPr>
      </p:pic>
      <p:sp>
        <p:nvSpPr>
          <p:cNvPr id="18" name="Text 13"/>
          <p:cNvSpPr/>
          <p:nvPr/>
        </p:nvSpPr>
        <p:spPr>
          <a:xfrm>
            <a:off x="1645920" y="4233672"/>
            <a:ext cx="4023360" cy="685800"/>
          </a:xfrm>
          <a:prstGeom prst="rect">
            <a:avLst/>
          </a:prstGeom>
          <a:noFill/>
          <a:ln/>
        </p:spPr>
        <p:txBody>
          <a:bodyPr wrap="square" rtlCol="0" anchor="ctr"/>
          <a:lstStyle/>
          <a:p>
            <a:pPr marL="0" indent="0">
              <a:buNone/>
            </a:pPr>
            <a:r>
              <a:rPr lang="en-US" sz="1450" b="1" dirty="0">
                <a:solidFill>
                  <a:srgbClr val="385724"/>
                </a:solidFill>
                <a:latin typeface="Calibri" pitchFamily="34" charset="0"/>
                <a:ea typeface="Calibri" pitchFamily="34" charset="-122"/>
                <a:cs typeface="Calibri" pitchFamily="34" charset="-120"/>
              </a:rPr>
              <a:t>Highest average prices</a:t>
            </a:r>
            <a:endParaRPr lang="en-US" sz="1450" dirty="0"/>
          </a:p>
        </p:txBody>
      </p:sp>
      <p:sp>
        <p:nvSpPr>
          <p:cNvPr id="19" name="Text 14"/>
          <p:cNvSpPr/>
          <p:nvPr/>
        </p:nvSpPr>
        <p:spPr>
          <a:xfrm>
            <a:off x="777240" y="5074920"/>
            <a:ext cx="4846320" cy="1097280"/>
          </a:xfrm>
          <a:prstGeom prst="rect">
            <a:avLst/>
          </a:prstGeom>
          <a:noFill/>
          <a:ln/>
        </p:spPr>
        <p:txBody>
          <a:bodyPr wrap="square" rtlCol="0" anchor="ctr"/>
          <a:lstStyle/>
          <a:p>
            <a:pPr marL="0" indent="0">
              <a:lnSpc>
                <a:spcPct val="120000"/>
              </a:lnSpc>
              <a:buNone/>
            </a:pPr>
            <a:r>
              <a:rPr lang="en-US" sz="1150" dirty="0">
                <a:solidFill>
                  <a:srgbClr val="2B2B2B"/>
                </a:solidFill>
                <a:latin typeface="Calibri" pitchFamily="34" charset="0"/>
                <a:ea typeface="Calibri" pitchFamily="34" charset="-122"/>
                <a:cs typeface="Calibri" pitchFamily="34" charset="-120"/>
              </a:rPr>
              <a:t>Mogadishu has the highest average property price, at about $209,588, slightly higher than Garowe at $206,754.</a:t>
            </a:r>
            <a:endParaRPr lang="en-US" sz="1150" dirty="0"/>
          </a:p>
        </p:txBody>
      </p:sp>
      <p:sp>
        <p:nvSpPr>
          <p:cNvPr id="20" name="Shape 15"/>
          <p:cNvSpPr/>
          <p:nvPr/>
        </p:nvSpPr>
        <p:spPr>
          <a:xfrm>
            <a:off x="6172200" y="3977640"/>
            <a:ext cx="5394960" cy="2331720"/>
          </a:xfrm>
          <a:prstGeom prst="roundRect">
            <a:avLst>
              <a:gd name="adj" fmla="val 3922"/>
            </a:avLst>
          </a:prstGeom>
          <a:solidFill>
            <a:srgbClr val="EEF4EA"/>
          </a:solidFill>
          <a:ln w="12700">
            <a:solidFill>
              <a:srgbClr val="CBDDC4"/>
            </a:solidFill>
            <a:prstDash val="solid"/>
          </a:ln>
        </p:spPr>
      </p:sp>
      <p:sp>
        <p:nvSpPr>
          <p:cNvPr id="21" name="Shape 16"/>
          <p:cNvSpPr/>
          <p:nvPr/>
        </p:nvSpPr>
        <p:spPr>
          <a:xfrm>
            <a:off x="6446520" y="4251960"/>
            <a:ext cx="685800" cy="685800"/>
          </a:xfrm>
          <a:prstGeom prst="ellipse">
            <a:avLst/>
          </a:prstGeom>
          <a:solidFill>
            <a:srgbClr val="385724"/>
          </a:solidFill>
          <a:ln/>
        </p:spPr>
      </p:sp>
      <p:pic>
        <p:nvPicPr>
          <p:cNvPr id="22" name="Image 3" descr="/home/claude/icons/check_FFFFFF.png"/>
          <p:cNvPicPr>
            <a:picLocks noChangeAspect="1"/>
          </p:cNvPicPr>
          <p:nvPr/>
        </p:nvPicPr>
        <p:blipFill>
          <a:blip r:embed="rId6"/>
          <a:stretch>
            <a:fillRect/>
          </a:stretch>
        </p:blipFill>
        <p:spPr>
          <a:xfrm>
            <a:off x="6611112" y="4416552"/>
            <a:ext cx="365760" cy="365760"/>
          </a:xfrm>
          <a:prstGeom prst="rect">
            <a:avLst/>
          </a:prstGeom>
        </p:spPr>
      </p:pic>
      <p:sp>
        <p:nvSpPr>
          <p:cNvPr id="23" name="Text 17"/>
          <p:cNvSpPr/>
          <p:nvPr/>
        </p:nvSpPr>
        <p:spPr>
          <a:xfrm>
            <a:off x="7315200" y="4233672"/>
            <a:ext cx="4023360" cy="685800"/>
          </a:xfrm>
          <a:prstGeom prst="rect">
            <a:avLst/>
          </a:prstGeom>
          <a:noFill/>
          <a:ln/>
        </p:spPr>
        <p:txBody>
          <a:bodyPr wrap="square" rtlCol="0" anchor="ctr"/>
          <a:lstStyle/>
          <a:p>
            <a:pPr marL="0" indent="0">
              <a:buNone/>
            </a:pPr>
            <a:r>
              <a:rPr lang="en-US" sz="1450" b="1" dirty="0">
                <a:solidFill>
                  <a:srgbClr val="385724"/>
                </a:solidFill>
                <a:latin typeface="Calibri" pitchFamily="34" charset="0"/>
                <a:ea typeface="Calibri" pitchFamily="34" charset="-122"/>
                <a:cs typeface="Calibri" pitchFamily="34" charset="-120"/>
              </a:rPr>
              <a:t>Cleaning improved reliability</a:t>
            </a:r>
            <a:endParaRPr lang="en-US" sz="1450" dirty="0"/>
          </a:p>
        </p:txBody>
      </p:sp>
      <p:sp>
        <p:nvSpPr>
          <p:cNvPr id="24" name="Text 18"/>
          <p:cNvSpPr/>
          <p:nvPr/>
        </p:nvSpPr>
        <p:spPr>
          <a:xfrm>
            <a:off x="6446520" y="5074920"/>
            <a:ext cx="4846320" cy="1097280"/>
          </a:xfrm>
          <a:prstGeom prst="rect">
            <a:avLst/>
          </a:prstGeom>
          <a:noFill/>
          <a:ln/>
        </p:spPr>
        <p:txBody>
          <a:bodyPr wrap="square" rtlCol="0" anchor="ctr"/>
          <a:lstStyle/>
          <a:p>
            <a:pPr marL="0" indent="0">
              <a:lnSpc>
                <a:spcPct val="120000"/>
              </a:lnSpc>
              <a:buNone/>
            </a:pPr>
            <a:r>
              <a:rPr lang="en-US" sz="1150" dirty="0">
                <a:solidFill>
                  <a:srgbClr val="2B2B2B"/>
                </a:solidFill>
                <a:latin typeface="Calibri" pitchFamily="34" charset="0"/>
                <a:ea typeface="Calibri" pitchFamily="34" charset="-122"/>
                <a:cs typeface="Calibri" pitchFamily="34" charset="-120"/>
              </a:rPr>
              <a:t>8 duplicate records were removed and missing values were handled, leaving 292 clean, reliable records.</a:t>
            </a:r>
            <a:endParaRPr lang="en-US" sz="1150" dirty="0"/>
          </a:p>
        </p:txBody>
      </p:sp>
      <p:sp>
        <p:nvSpPr>
          <p:cNvPr id="25" name="Text 19"/>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8/10</a:t>
            </a:r>
            <a:endParaRPr lang="en-US" sz="1000" dirty="0"/>
          </a:p>
        </p:txBody>
      </p:sp>
      <p:sp>
        <p:nvSpPr>
          <p:cNvPr id="26" name="Text 20"/>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385724"/>
          </a:solidFill>
          <a:ln/>
        </p:spPr>
      </p:sp>
      <p:sp>
        <p:nvSpPr>
          <p:cNvPr id="3" name="Text 1"/>
          <p:cNvSpPr/>
          <p:nvPr/>
        </p:nvSpPr>
        <p:spPr>
          <a:xfrm>
            <a:off x="502920" y="109728"/>
            <a:ext cx="11183112" cy="566928"/>
          </a:xfrm>
          <a:prstGeom prst="rect">
            <a:avLst/>
          </a:prstGeom>
          <a:noFill/>
          <a:ln/>
        </p:spPr>
        <p:txBody>
          <a:bodyPr wrap="square" rtlCol="0" anchor="ctr"/>
          <a:lstStyle/>
          <a:p>
            <a:pPr marL="0" indent="0" algn="l">
              <a:buNone/>
            </a:pPr>
            <a:r>
              <a:rPr lang="en-US" sz="3000" b="1" dirty="0">
                <a:solidFill>
                  <a:srgbClr val="FFFFFF"/>
                </a:solidFill>
                <a:latin typeface="Times New Roman" pitchFamily="34" charset="0"/>
                <a:ea typeface="Times New Roman" pitchFamily="34" charset="-122"/>
                <a:cs typeface="Times New Roman" pitchFamily="34" charset="-120"/>
              </a:rPr>
              <a:t>Recommendations</a:t>
            </a:r>
            <a:endParaRPr lang="en-US" sz="3000" dirty="0"/>
          </a:p>
        </p:txBody>
      </p:sp>
      <p:sp>
        <p:nvSpPr>
          <p:cNvPr id="4" name="Text 2"/>
          <p:cNvSpPr/>
          <p:nvPr/>
        </p:nvSpPr>
        <p:spPr>
          <a:xfrm>
            <a:off x="502920" y="658368"/>
            <a:ext cx="11183112" cy="320040"/>
          </a:xfrm>
          <a:prstGeom prst="rect">
            <a:avLst/>
          </a:prstGeom>
          <a:noFill/>
          <a:ln/>
        </p:spPr>
        <p:txBody>
          <a:bodyPr wrap="square" rtlCol="0" anchor="ctr"/>
          <a:lstStyle/>
          <a:p>
            <a:pPr marL="0" indent="0" algn="l">
              <a:buNone/>
            </a:pPr>
            <a:r>
              <a:rPr lang="en-US" sz="1300" i="1" dirty="0">
                <a:solidFill>
                  <a:srgbClr val="CBDDC4"/>
                </a:solidFill>
                <a:latin typeface="Calibri" pitchFamily="34" charset="0"/>
                <a:ea typeface="Calibri" pitchFamily="34" charset="-122"/>
                <a:cs typeface="Calibri" pitchFamily="34" charset="-120"/>
              </a:rPr>
              <a:t>Practical next steps based on the findings</a:t>
            </a:r>
            <a:endParaRPr lang="en-US" sz="1300" dirty="0"/>
          </a:p>
        </p:txBody>
      </p:sp>
      <p:sp>
        <p:nvSpPr>
          <p:cNvPr id="5" name="Shape 3"/>
          <p:cNvSpPr/>
          <p:nvPr/>
        </p:nvSpPr>
        <p:spPr>
          <a:xfrm>
            <a:off x="502920" y="1417320"/>
            <a:ext cx="5394960" cy="2331720"/>
          </a:xfrm>
          <a:prstGeom prst="roundRect">
            <a:avLst>
              <a:gd name="adj" fmla="val 3922"/>
            </a:avLst>
          </a:prstGeom>
          <a:solidFill>
            <a:srgbClr val="385724"/>
          </a:solidFill>
          <a:ln/>
        </p:spPr>
      </p:sp>
      <p:sp>
        <p:nvSpPr>
          <p:cNvPr id="6" name="Shape 4"/>
          <p:cNvSpPr/>
          <p:nvPr/>
        </p:nvSpPr>
        <p:spPr>
          <a:xfrm>
            <a:off x="777240" y="1691640"/>
            <a:ext cx="685800" cy="685800"/>
          </a:xfrm>
          <a:prstGeom prst="ellipse">
            <a:avLst/>
          </a:prstGeom>
          <a:solidFill>
            <a:srgbClr val="FFFFFF"/>
          </a:solidFill>
          <a:ln/>
        </p:spPr>
      </p:sp>
      <p:pic>
        <p:nvPicPr>
          <p:cNvPr id="7" name="Image 0" descr="/home/claude/icons/target_385724.png"/>
          <p:cNvPicPr>
            <a:picLocks noChangeAspect="1"/>
          </p:cNvPicPr>
          <p:nvPr/>
        </p:nvPicPr>
        <p:blipFill>
          <a:blip r:embed="rId3"/>
          <a:stretch>
            <a:fillRect/>
          </a:stretch>
        </p:blipFill>
        <p:spPr>
          <a:xfrm>
            <a:off x="941832" y="1856232"/>
            <a:ext cx="365760" cy="365760"/>
          </a:xfrm>
          <a:prstGeom prst="rect">
            <a:avLst/>
          </a:prstGeom>
        </p:spPr>
      </p:pic>
      <p:sp>
        <p:nvSpPr>
          <p:cNvPr id="8" name="Text 5"/>
          <p:cNvSpPr/>
          <p:nvPr/>
        </p:nvSpPr>
        <p:spPr>
          <a:xfrm>
            <a:off x="1645920" y="1673352"/>
            <a:ext cx="402336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Focus on Mogadishu</a:t>
            </a:r>
            <a:endParaRPr lang="en-US" sz="1450" dirty="0"/>
          </a:p>
        </p:txBody>
      </p:sp>
      <p:sp>
        <p:nvSpPr>
          <p:cNvPr id="9" name="Text 6"/>
          <p:cNvSpPr/>
          <p:nvPr/>
        </p:nvSpPr>
        <p:spPr>
          <a:xfrm>
            <a:off x="777240" y="2514600"/>
            <a:ext cx="4846320" cy="1097280"/>
          </a:xfrm>
          <a:prstGeom prst="rect">
            <a:avLst/>
          </a:prstGeom>
          <a:noFill/>
          <a:ln/>
        </p:spPr>
        <p:txBody>
          <a:bodyPr wrap="square" rtlCol="0" anchor="ctr"/>
          <a:lstStyle/>
          <a:p>
            <a:pPr marL="0" indent="0">
              <a:lnSpc>
                <a:spcPct val="120000"/>
              </a:lnSpc>
              <a:buNone/>
            </a:pPr>
            <a:r>
              <a:rPr lang="en-US" sz="1150" dirty="0">
                <a:solidFill>
                  <a:srgbClr val="CBDDC4"/>
                </a:solidFill>
                <a:latin typeface="Calibri" pitchFamily="34" charset="0"/>
                <a:ea typeface="Calibri" pitchFamily="34" charset="-122"/>
                <a:cs typeface="Calibri" pitchFamily="34" charset="-120"/>
              </a:rPr>
              <a:t>Focus more on Mogadishu, because it has the largest number of properties and strong average prices.</a:t>
            </a:r>
            <a:endParaRPr lang="en-US" sz="1150" dirty="0"/>
          </a:p>
        </p:txBody>
      </p:sp>
      <p:sp>
        <p:nvSpPr>
          <p:cNvPr id="10" name="Shape 7"/>
          <p:cNvSpPr/>
          <p:nvPr/>
        </p:nvSpPr>
        <p:spPr>
          <a:xfrm>
            <a:off x="6172200" y="1417320"/>
            <a:ext cx="5394960" cy="2331720"/>
          </a:xfrm>
          <a:prstGeom prst="roundRect">
            <a:avLst>
              <a:gd name="adj" fmla="val 3922"/>
            </a:avLst>
          </a:prstGeom>
          <a:solidFill>
            <a:srgbClr val="5F943C"/>
          </a:solidFill>
          <a:ln/>
        </p:spPr>
      </p:sp>
      <p:sp>
        <p:nvSpPr>
          <p:cNvPr id="11" name="Shape 8"/>
          <p:cNvSpPr/>
          <p:nvPr/>
        </p:nvSpPr>
        <p:spPr>
          <a:xfrm>
            <a:off x="6446520" y="1691640"/>
            <a:ext cx="685800" cy="685800"/>
          </a:xfrm>
          <a:prstGeom prst="ellipse">
            <a:avLst/>
          </a:prstGeom>
          <a:solidFill>
            <a:srgbClr val="FFFFFF"/>
          </a:solidFill>
          <a:ln/>
        </p:spPr>
      </p:sp>
      <p:pic>
        <p:nvPicPr>
          <p:cNvPr id="12" name="Image 1" descr="/home/claude/icons/chart_385724.png"/>
          <p:cNvPicPr>
            <a:picLocks noChangeAspect="1"/>
          </p:cNvPicPr>
          <p:nvPr/>
        </p:nvPicPr>
        <p:blipFill>
          <a:blip r:embed="rId4"/>
          <a:stretch>
            <a:fillRect/>
          </a:stretch>
        </p:blipFill>
        <p:spPr>
          <a:xfrm>
            <a:off x="6611112" y="1856232"/>
            <a:ext cx="365760" cy="365760"/>
          </a:xfrm>
          <a:prstGeom prst="rect">
            <a:avLst/>
          </a:prstGeom>
        </p:spPr>
      </p:pic>
      <p:sp>
        <p:nvSpPr>
          <p:cNvPr id="13" name="Text 9"/>
          <p:cNvSpPr/>
          <p:nvPr/>
        </p:nvSpPr>
        <p:spPr>
          <a:xfrm>
            <a:off x="7315200" y="1673352"/>
            <a:ext cx="402336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Monitor apartment demand</a:t>
            </a:r>
            <a:endParaRPr lang="en-US" sz="1450" dirty="0"/>
          </a:p>
        </p:txBody>
      </p:sp>
      <p:sp>
        <p:nvSpPr>
          <p:cNvPr id="14" name="Text 10"/>
          <p:cNvSpPr/>
          <p:nvPr/>
        </p:nvSpPr>
        <p:spPr>
          <a:xfrm>
            <a:off x="6446520" y="2514600"/>
            <a:ext cx="4846320" cy="1097280"/>
          </a:xfrm>
          <a:prstGeom prst="rect">
            <a:avLst/>
          </a:prstGeom>
          <a:noFill/>
          <a:ln/>
        </p:spPr>
        <p:txBody>
          <a:bodyPr wrap="square" rtlCol="0" anchor="ctr"/>
          <a:lstStyle/>
          <a:p>
            <a:pPr marL="0" indent="0">
              <a:lnSpc>
                <a:spcPct val="120000"/>
              </a:lnSpc>
              <a:buNone/>
            </a:pPr>
            <a:r>
              <a:rPr lang="en-US" sz="1150" dirty="0">
                <a:solidFill>
                  <a:srgbClr val="CBDDC4"/>
                </a:solidFill>
                <a:latin typeface="Calibri" pitchFamily="34" charset="0"/>
                <a:ea typeface="Calibri" pitchFamily="34" charset="-122"/>
                <a:cs typeface="Calibri" pitchFamily="34" charset="-120"/>
              </a:rPr>
              <a:t>Monitor the apartment market, since apartments make up the largest share of the available properties.</a:t>
            </a:r>
            <a:endParaRPr lang="en-US" sz="1150" dirty="0"/>
          </a:p>
        </p:txBody>
      </p:sp>
      <p:sp>
        <p:nvSpPr>
          <p:cNvPr id="15" name="Shape 11"/>
          <p:cNvSpPr/>
          <p:nvPr/>
        </p:nvSpPr>
        <p:spPr>
          <a:xfrm>
            <a:off x="502920" y="3977640"/>
            <a:ext cx="5394960" cy="2331720"/>
          </a:xfrm>
          <a:prstGeom prst="roundRect">
            <a:avLst>
              <a:gd name="adj" fmla="val 3922"/>
            </a:avLst>
          </a:prstGeom>
          <a:solidFill>
            <a:srgbClr val="385724"/>
          </a:solidFill>
          <a:ln/>
        </p:spPr>
      </p:sp>
      <p:sp>
        <p:nvSpPr>
          <p:cNvPr id="16" name="Shape 12"/>
          <p:cNvSpPr/>
          <p:nvPr/>
        </p:nvSpPr>
        <p:spPr>
          <a:xfrm>
            <a:off x="777240" y="4251960"/>
            <a:ext cx="685800" cy="685800"/>
          </a:xfrm>
          <a:prstGeom prst="ellipse">
            <a:avLst/>
          </a:prstGeom>
          <a:solidFill>
            <a:srgbClr val="FFFFFF"/>
          </a:solidFill>
          <a:ln/>
        </p:spPr>
      </p:sp>
      <p:pic>
        <p:nvPicPr>
          <p:cNvPr id="17" name="Image 2" descr="/home/claude/icons/search_385724.png"/>
          <p:cNvPicPr>
            <a:picLocks noChangeAspect="1"/>
          </p:cNvPicPr>
          <p:nvPr/>
        </p:nvPicPr>
        <p:blipFill>
          <a:blip r:embed="rId5"/>
          <a:stretch>
            <a:fillRect/>
          </a:stretch>
        </p:blipFill>
        <p:spPr>
          <a:xfrm>
            <a:off x="941832" y="4416552"/>
            <a:ext cx="365760" cy="365760"/>
          </a:xfrm>
          <a:prstGeom prst="rect">
            <a:avLst/>
          </a:prstGeom>
        </p:spPr>
      </p:pic>
      <p:sp>
        <p:nvSpPr>
          <p:cNvPr id="18" name="Text 13"/>
          <p:cNvSpPr/>
          <p:nvPr/>
        </p:nvSpPr>
        <p:spPr>
          <a:xfrm>
            <a:off x="1645920" y="4233672"/>
            <a:ext cx="402336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Review pricing by location</a:t>
            </a:r>
            <a:endParaRPr lang="en-US" sz="1450" dirty="0"/>
          </a:p>
        </p:txBody>
      </p:sp>
      <p:sp>
        <p:nvSpPr>
          <p:cNvPr id="19" name="Text 14"/>
          <p:cNvSpPr/>
          <p:nvPr/>
        </p:nvSpPr>
        <p:spPr>
          <a:xfrm>
            <a:off x="777240" y="5074920"/>
            <a:ext cx="4846320" cy="1097280"/>
          </a:xfrm>
          <a:prstGeom prst="rect">
            <a:avLst/>
          </a:prstGeom>
          <a:noFill/>
          <a:ln/>
        </p:spPr>
        <p:txBody>
          <a:bodyPr wrap="square" rtlCol="0" anchor="ctr"/>
          <a:lstStyle/>
          <a:p>
            <a:pPr marL="0" indent="0">
              <a:lnSpc>
                <a:spcPct val="120000"/>
              </a:lnSpc>
              <a:buNone/>
            </a:pPr>
            <a:r>
              <a:rPr lang="en-US" sz="1150" dirty="0">
                <a:solidFill>
                  <a:srgbClr val="CBDDC4"/>
                </a:solidFill>
                <a:latin typeface="Calibri" pitchFamily="34" charset="0"/>
                <a:ea typeface="Calibri" pitchFamily="34" charset="-122"/>
                <a:cs typeface="Calibri" pitchFamily="34" charset="-120"/>
              </a:rPr>
              <a:t>Review pricing by location, especially in Mogadishu and Garowe, to understand why their average prices are higher.</a:t>
            </a:r>
            <a:endParaRPr lang="en-US" sz="1150" dirty="0"/>
          </a:p>
        </p:txBody>
      </p:sp>
      <p:sp>
        <p:nvSpPr>
          <p:cNvPr id="20" name="Shape 15"/>
          <p:cNvSpPr/>
          <p:nvPr/>
        </p:nvSpPr>
        <p:spPr>
          <a:xfrm>
            <a:off x="6172200" y="3977640"/>
            <a:ext cx="5394960" cy="2331720"/>
          </a:xfrm>
          <a:prstGeom prst="roundRect">
            <a:avLst>
              <a:gd name="adj" fmla="val 3922"/>
            </a:avLst>
          </a:prstGeom>
          <a:solidFill>
            <a:srgbClr val="5F943C"/>
          </a:solidFill>
          <a:ln/>
        </p:spPr>
      </p:sp>
      <p:sp>
        <p:nvSpPr>
          <p:cNvPr id="21" name="Shape 16"/>
          <p:cNvSpPr/>
          <p:nvPr/>
        </p:nvSpPr>
        <p:spPr>
          <a:xfrm>
            <a:off x="6446520" y="4251960"/>
            <a:ext cx="685800" cy="685800"/>
          </a:xfrm>
          <a:prstGeom prst="ellipse">
            <a:avLst/>
          </a:prstGeom>
          <a:solidFill>
            <a:srgbClr val="FFFFFF"/>
          </a:solidFill>
          <a:ln/>
        </p:spPr>
      </p:sp>
      <p:pic>
        <p:nvPicPr>
          <p:cNvPr id="22" name="Image 3" descr="/home/claude/icons/broom_385724.png"/>
          <p:cNvPicPr>
            <a:picLocks noChangeAspect="1"/>
          </p:cNvPicPr>
          <p:nvPr/>
        </p:nvPicPr>
        <p:blipFill>
          <a:blip r:embed="rId6"/>
          <a:stretch>
            <a:fillRect/>
          </a:stretch>
        </p:blipFill>
        <p:spPr>
          <a:xfrm>
            <a:off x="6611112" y="4416552"/>
            <a:ext cx="365760" cy="365760"/>
          </a:xfrm>
          <a:prstGeom prst="rect">
            <a:avLst/>
          </a:prstGeom>
        </p:spPr>
      </p:pic>
      <p:sp>
        <p:nvSpPr>
          <p:cNvPr id="23" name="Text 17"/>
          <p:cNvSpPr/>
          <p:nvPr/>
        </p:nvSpPr>
        <p:spPr>
          <a:xfrm>
            <a:off x="7315200" y="4233672"/>
            <a:ext cx="402336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Keep data clean and updated</a:t>
            </a:r>
            <a:endParaRPr lang="en-US" sz="1450" dirty="0"/>
          </a:p>
        </p:txBody>
      </p:sp>
      <p:sp>
        <p:nvSpPr>
          <p:cNvPr id="24" name="Text 18"/>
          <p:cNvSpPr/>
          <p:nvPr/>
        </p:nvSpPr>
        <p:spPr>
          <a:xfrm>
            <a:off x="6446520" y="5074920"/>
            <a:ext cx="4846320" cy="1097280"/>
          </a:xfrm>
          <a:prstGeom prst="rect">
            <a:avLst/>
          </a:prstGeom>
          <a:noFill/>
          <a:ln/>
        </p:spPr>
        <p:txBody>
          <a:bodyPr wrap="square" rtlCol="0" anchor="ctr"/>
          <a:lstStyle/>
          <a:p>
            <a:pPr marL="0" indent="0">
              <a:lnSpc>
                <a:spcPct val="120000"/>
              </a:lnSpc>
              <a:buNone/>
            </a:pPr>
            <a:r>
              <a:rPr lang="en-US" sz="1150" dirty="0">
                <a:solidFill>
                  <a:srgbClr val="CBDDC4"/>
                </a:solidFill>
                <a:latin typeface="Calibri" pitchFamily="34" charset="0"/>
                <a:ea typeface="Calibri" pitchFamily="34" charset="-122"/>
                <a:cs typeface="Calibri" pitchFamily="34" charset="-120"/>
              </a:rPr>
              <a:t>Keep the data regularly updated and cleaned to reduce missing, duplicate, and unknown information.</a:t>
            </a:r>
            <a:endParaRPr lang="en-US" sz="1150" dirty="0"/>
          </a:p>
        </p:txBody>
      </p:sp>
      <p:sp>
        <p:nvSpPr>
          <p:cNvPr id="25" name="Text 19"/>
          <p:cNvSpPr/>
          <p:nvPr/>
        </p:nvSpPr>
        <p:spPr>
          <a:xfrm>
            <a:off x="11274552" y="6473952"/>
            <a:ext cx="73152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9/10</a:t>
            </a:r>
            <a:endParaRPr lang="en-US" sz="1000" dirty="0"/>
          </a:p>
        </p:txBody>
      </p:sp>
      <p:sp>
        <p:nvSpPr>
          <p:cNvPr id="26" name="Text 20"/>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Real Estate Property Data Analysis  |  25 August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85724"/>
        </a:solidFill>
        <a:effectLst/>
      </p:bgPr>
    </p:bg>
    <p:spTree>
      <p:nvGrpSpPr>
        <p:cNvPr id="1" name=""/>
        <p:cNvGrpSpPr/>
        <p:nvPr/>
      </p:nvGrpSpPr>
      <p:grpSpPr>
        <a:xfrm>
          <a:off x="0" y="0"/>
          <a:ext cx="0" cy="0"/>
          <a:chOff x="0" y="0"/>
          <a:chExt cx="0" cy="0"/>
        </a:xfrm>
      </p:grpSpPr>
      <p:pic>
        <p:nvPicPr>
          <p:cNvPr id="2" name="Image 0" descr="/home/claude/icons/home_FFFFFF.png"/>
          <p:cNvPicPr>
            <a:picLocks noChangeAspect="1"/>
          </p:cNvPicPr>
          <p:nvPr/>
        </p:nvPicPr>
        <p:blipFill>
          <a:blip r:embed="rId3"/>
          <a:stretch>
            <a:fillRect/>
          </a:stretch>
        </p:blipFill>
        <p:spPr>
          <a:xfrm>
            <a:off x="5367528" y="502920"/>
            <a:ext cx="914400" cy="914400"/>
          </a:xfrm>
          <a:prstGeom prst="rect">
            <a:avLst/>
          </a:prstGeom>
        </p:spPr>
      </p:pic>
      <p:sp>
        <p:nvSpPr>
          <p:cNvPr id="3" name="Text 0"/>
          <p:cNvSpPr/>
          <p:nvPr/>
        </p:nvSpPr>
        <p:spPr>
          <a:xfrm>
            <a:off x="731520" y="1508760"/>
            <a:ext cx="10725912" cy="548640"/>
          </a:xfrm>
          <a:prstGeom prst="rect">
            <a:avLst/>
          </a:prstGeom>
          <a:noFill/>
          <a:ln/>
        </p:spPr>
        <p:txBody>
          <a:bodyPr wrap="square" rtlCol="0" anchor="ctr"/>
          <a:lstStyle/>
          <a:p>
            <a:pPr marL="0" indent="0" algn="ctr">
              <a:buNone/>
            </a:pPr>
            <a:r>
              <a:rPr lang="en-US" sz="3200" b="1" dirty="0">
                <a:solidFill>
                  <a:srgbClr val="FFFFFF"/>
                </a:solidFill>
                <a:latin typeface="Times New Roman" pitchFamily="34" charset="0"/>
                <a:ea typeface="Times New Roman" pitchFamily="34" charset="-122"/>
                <a:cs typeface="Times New Roman" pitchFamily="34" charset="-120"/>
              </a:rPr>
              <a:t>Summary</a:t>
            </a:r>
            <a:endParaRPr lang="en-US" sz="3200" dirty="0"/>
          </a:p>
        </p:txBody>
      </p:sp>
      <p:sp>
        <p:nvSpPr>
          <p:cNvPr id="4" name="Text 1"/>
          <p:cNvSpPr/>
          <p:nvPr/>
        </p:nvSpPr>
        <p:spPr>
          <a:xfrm>
            <a:off x="1463040" y="2331720"/>
            <a:ext cx="9262872" cy="1463040"/>
          </a:xfrm>
          <a:prstGeom prst="rect">
            <a:avLst/>
          </a:prstGeom>
          <a:noFill/>
          <a:ln/>
        </p:spPr>
        <p:txBody>
          <a:bodyPr wrap="square" rtlCol="0" anchor="t"/>
          <a:lstStyle/>
          <a:p>
            <a:pPr marL="0" indent="0" algn="ctr">
              <a:lnSpc>
                <a:spcPct val="135000"/>
              </a:lnSpc>
              <a:buNone/>
            </a:pPr>
            <a:r>
              <a:rPr lang="en-US" sz="1600" dirty="0">
                <a:solidFill>
                  <a:srgbClr val="FFFFFF"/>
                </a:solidFill>
                <a:latin typeface="Calibri" pitchFamily="34" charset="0"/>
                <a:ea typeface="Calibri" pitchFamily="34" charset="-122"/>
                <a:cs typeface="Calibri" pitchFamily="34" charset="-120"/>
              </a:rPr>
              <a:t>Overall, the data shows that Mogadishu has the strongest property market, with the most listings and high average prices. Apartments are the most common property type, and the cleaned data is more reliable for analysis.</a:t>
            </a:r>
            <a:endParaRPr lang="en-US" sz="1600" dirty="0"/>
          </a:p>
        </p:txBody>
      </p:sp>
      <p:sp>
        <p:nvSpPr>
          <p:cNvPr id="5" name="Shape 2"/>
          <p:cNvSpPr/>
          <p:nvPr/>
        </p:nvSpPr>
        <p:spPr>
          <a:xfrm>
            <a:off x="731520" y="4206240"/>
            <a:ext cx="2475738" cy="1234440"/>
          </a:xfrm>
          <a:prstGeom prst="roundRect">
            <a:avLst>
              <a:gd name="adj" fmla="val 5926"/>
            </a:avLst>
          </a:prstGeom>
          <a:solidFill>
            <a:srgbClr val="5F943C">
              <a:alpha val="80000"/>
            </a:srgbClr>
          </a:solidFill>
          <a:ln w="12700">
            <a:solidFill>
              <a:srgbClr val="6FAD47"/>
            </a:solidFill>
            <a:prstDash val="solid"/>
          </a:ln>
        </p:spPr>
      </p:sp>
      <p:sp>
        <p:nvSpPr>
          <p:cNvPr id="6" name="Text 3"/>
          <p:cNvSpPr/>
          <p:nvPr/>
        </p:nvSpPr>
        <p:spPr>
          <a:xfrm>
            <a:off x="731520" y="4343400"/>
            <a:ext cx="2475738" cy="548640"/>
          </a:xfrm>
          <a:prstGeom prst="rect">
            <a:avLst/>
          </a:prstGeom>
          <a:no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292</a:t>
            </a:r>
            <a:endParaRPr lang="en-US" sz="1700" dirty="0"/>
          </a:p>
        </p:txBody>
      </p:sp>
      <p:sp>
        <p:nvSpPr>
          <p:cNvPr id="7" name="Text 4"/>
          <p:cNvSpPr/>
          <p:nvPr/>
        </p:nvSpPr>
        <p:spPr>
          <a:xfrm>
            <a:off x="731520" y="4919472"/>
            <a:ext cx="2475738" cy="411480"/>
          </a:xfrm>
          <a:prstGeom prst="rect">
            <a:avLst/>
          </a:prstGeom>
          <a:noFill/>
          <a:ln/>
        </p:spPr>
        <p:txBody>
          <a:bodyPr wrap="square" rtlCol="0" anchor="ctr"/>
          <a:lstStyle/>
          <a:p>
            <a:pPr marL="0" indent="0" algn="ctr">
              <a:buNone/>
            </a:pPr>
            <a:r>
              <a:rPr lang="en-US" sz="1000" dirty="0">
                <a:solidFill>
                  <a:srgbClr val="CBDDC4"/>
                </a:solidFill>
                <a:latin typeface="Calibri" pitchFamily="34" charset="0"/>
                <a:ea typeface="Calibri" pitchFamily="34" charset="-122"/>
                <a:cs typeface="Calibri" pitchFamily="34" charset="-120"/>
              </a:rPr>
              <a:t>clean records</a:t>
            </a:r>
            <a:endParaRPr lang="en-US" sz="1000" dirty="0"/>
          </a:p>
        </p:txBody>
      </p:sp>
      <p:sp>
        <p:nvSpPr>
          <p:cNvPr id="8" name="Shape 5"/>
          <p:cNvSpPr/>
          <p:nvPr/>
        </p:nvSpPr>
        <p:spPr>
          <a:xfrm>
            <a:off x="3481578" y="4206240"/>
            <a:ext cx="2475738" cy="1234440"/>
          </a:xfrm>
          <a:prstGeom prst="roundRect">
            <a:avLst>
              <a:gd name="adj" fmla="val 5926"/>
            </a:avLst>
          </a:prstGeom>
          <a:solidFill>
            <a:srgbClr val="5F943C">
              <a:alpha val="80000"/>
            </a:srgbClr>
          </a:solidFill>
          <a:ln w="12700">
            <a:solidFill>
              <a:srgbClr val="6FAD47"/>
            </a:solidFill>
            <a:prstDash val="solid"/>
          </a:ln>
        </p:spPr>
      </p:sp>
      <p:sp>
        <p:nvSpPr>
          <p:cNvPr id="9" name="Text 6"/>
          <p:cNvSpPr/>
          <p:nvPr/>
        </p:nvSpPr>
        <p:spPr>
          <a:xfrm>
            <a:off x="3481578" y="4343400"/>
            <a:ext cx="2475738" cy="548640"/>
          </a:xfrm>
          <a:prstGeom prst="rect">
            <a:avLst/>
          </a:prstGeom>
          <a:no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Mogadishu</a:t>
            </a:r>
            <a:endParaRPr lang="en-US" sz="1700" dirty="0"/>
          </a:p>
        </p:txBody>
      </p:sp>
      <p:sp>
        <p:nvSpPr>
          <p:cNvPr id="10" name="Text 7"/>
          <p:cNvSpPr/>
          <p:nvPr/>
        </p:nvSpPr>
        <p:spPr>
          <a:xfrm>
            <a:off x="3481578" y="4919472"/>
            <a:ext cx="2475738" cy="411480"/>
          </a:xfrm>
          <a:prstGeom prst="rect">
            <a:avLst/>
          </a:prstGeom>
          <a:noFill/>
          <a:ln/>
        </p:spPr>
        <p:txBody>
          <a:bodyPr wrap="square" rtlCol="0" anchor="ctr"/>
          <a:lstStyle/>
          <a:p>
            <a:pPr marL="0" indent="0" algn="ctr">
              <a:buNone/>
            </a:pPr>
            <a:r>
              <a:rPr lang="en-US" sz="1000" dirty="0">
                <a:solidFill>
                  <a:srgbClr val="CBDDC4"/>
                </a:solidFill>
                <a:latin typeface="Calibri" pitchFamily="34" charset="0"/>
                <a:ea typeface="Calibri" pitchFamily="34" charset="-122"/>
                <a:cs typeface="Calibri" pitchFamily="34" charset="-120"/>
              </a:rPr>
              <a:t>strongest market</a:t>
            </a:r>
            <a:endParaRPr lang="en-US" sz="1000" dirty="0"/>
          </a:p>
        </p:txBody>
      </p:sp>
      <p:sp>
        <p:nvSpPr>
          <p:cNvPr id="11" name="Shape 8"/>
          <p:cNvSpPr/>
          <p:nvPr/>
        </p:nvSpPr>
        <p:spPr>
          <a:xfrm>
            <a:off x="6231636" y="4206240"/>
            <a:ext cx="2475738" cy="1234440"/>
          </a:xfrm>
          <a:prstGeom prst="roundRect">
            <a:avLst>
              <a:gd name="adj" fmla="val 5926"/>
            </a:avLst>
          </a:prstGeom>
          <a:solidFill>
            <a:srgbClr val="5F943C">
              <a:alpha val="80000"/>
            </a:srgbClr>
          </a:solidFill>
          <a:ln w="12700">
            <a:solidFill>
              <a:srgbClr val="6FAD47"/>
            </a:solidFill>
            <a:prstDash val="solid"/>
          </a:ln>
        </p:spPr>
      </p:sp>
      <p:sp>
        <p:nvSpPr>
          <p:cNvPr id="12" name="Text 9"/>
          <p:cNvSpPr/>
          <p:nvPr/>
        </p:nvSpPr>
        <p:spPr>
          <a:xfrm>
            <a:off x="6231636" y="4343400"/>
            <a:ext cx="2475738" cy="548640"/>
          </a:xfrm>
          <a:prstGeom prst="rect">
            <a:avLst/>
          </a:prstGeom>
          <a:no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Apartment</a:t>
            </a:r>
            <a:endParaRPr lang="en-US" sz="1700" dirty="0"/>
          </a:p>
        </p:txBody>
      </p:sp>
      <p:sp>
        <p:nvSpPr>
          <p:cNvPr id="13" name="Text 10"/>
          <p:cNvSpPr/>
          <p:nvPr/>
        </p:nvSpPr>
        <p:spPr>
          <a:xfrm>
            <a:off x="6231636" y="4919472"/>
            <a:ext cx="2475738" cy="411480"/>
          </a:xfrm>
          <a:prstGeom prst="rect">
            <a:avLst/>
          </a:prstGeom>
          <a:noFill/>
          <a:ln/>
        </p:spPr>
        <p:txBody>
          <a:bodyPr wrap="square" rtlCol="0" anchor="ctr"/>
          <a:lstStyle/>
          <a:p>
            <a:pPr marL="0" indent="0" algn="ctr">
              <a:buNone/>
            </a:pPr>
            <a:r>
              <a:rPr lang="en-US" sz="1000" dirty="0">
                <a:solidFill>
                  <a:srgbClr val="CBDDC4"/>
                </a:solidFill>
                <a:latin typeface="Calibri" pitchFamily="34" charset="0"/>
                <a:ea typeface="Calibri" pitchFamily="34" charset="-122"/>
                <a:cs typeface="Calibri" pitchFamily="34" charset="-120"/>
              </a:rPr>
              <a:t>most common type</a:t>
            </a:r>
            <a:endParaRPr lang="en-US" sz="1000" dirty="0"/>
          </a:p>
        </p:txBody>
      </p:sp>
      <p:sp>
        <p:nvSpPr>
          <p:cNvPr id="14" name="Shape 11"/>
          <p:cNvSpPr/>
          <p:nvPr/>
        </p:nvSpPr>
        <p:spPr>
          <a:xfrm>
            <a:off x="8981694" y="4206240"/>
            <a:ext cx="2475738" cy="1234440"/>
          </a:xfrm>
          <a:prstGeom prst="roundRect">
            <a:avLst>
              <a:gd name="adj" fmla="val 5926"/>
            </a:avLst>
          </a:prstGeom>
          <a:solidFill>
            <a:srgbClr val="5F943C">
              <a:alpha val="80000"/>
            </a:srgbClr>
          </a:solidFill>
          <a:ln w="12700">
            <a:solidFill>
              <a:srgbClr val="6FAD47"/>
            </a:solidFill>
            <a:prstDash val="solid"/>
          </a:ln>
        </p:spPr>
      </p:sp>
      <p:sp>
        <p:nvSpPr>
          <p:cNvPr id="15" name="Text 12"/>
          <p:cNvSpPr/>
          <p:nvPr/>
        </p:nvSpPr>
        <p:spPr>
          <a:xfrm>
            <a:off x="8981694" y="4343400"/>
            <a:ext cx="2475738" cy="548640"/>
          </a:xfrm>
          <a:prstGeom prst="rect">
            <a:avLst/>
          </a:prstGeom>
          <a:no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$178,870.73</a:t>
            </a:r>
            <a:endParaRPr lang="en-US" sz="1700" dirty="0"/>
          </a:p>
        </p:txBody>
      </p:sp>
      <p:sp>
        <p:nvSpPr>
          <p:cNvPr id="16" name="Text 13"/>
          <p:cNvSpPr/>
          <p:nvPr/>
        </p:nvSpPr>
        <p:spPr>
          <a:xfrm>
            <a:off x="8981694" y="4919472"/>
            <a:ext cx="2475738" cy="411480"/>
          </a:xfrm>
          <a:prstGeom prst="rect">
            <a:avLst/>
          </a:prstGeom>
          <a:noFill/>
          <a:ln/>
        </p:spPr>
        <p:txBody>
          <a:bodyPr wrap="square" rtlCol="0" anchor="ctr"/>
          <a:lstStyle/>
          <a:p>
            <a:pPr marL="0" indent="0" algn="ctr">
              <a:buNone/>
            </a:pPr>
            <a:r>
              <a:rPr lang="en-US" sz="1000" dirty="0">
                <a:solidFill>
                  <a:srgbClr val="CBDDC4"/>
                </a:solidFill>
                <a:latin typeface="Calibri" pitchFamily="34" charset="0"/>
                <a:ea typeface="Calibri" pitchFamily="34" charset="-122"/>
                <a:cs typeface="Calibri" pitchFamily="34" charset="-120"/>
              </a:rPr>
              <a:t>average price</a:t>
            </a:r>
            <a:endParaRPr lang="en-US" sz="1000" dirty="0"/>
          </a:p>
        </p:txBody>
      </p:sp>
      <p:sp>
        <p:nvSpPr>
          <p:cNvPr id="17" name="Text 14"/>
          <p:cNvSpPr/>
          <p:nvPr/>
        </p:nvSpPr>
        <p:spPr>
          <a:xfrm>
            <a:off x="731520" y="6355080"/>
            <a:ext cx="10725912" cy="320040"/>
          </a:xfrm>
          <a:prstGeom prst="rect">
            <a:avLst/>
          </a:prstGeom>
          <a:noFill/>
          <a:ln/>
        </p:spPr>
        <p:txBody>
          <a:bodyPr wrap="square" rtlCol="0" anchor="ctr"/>
          <a:lstStyle/>
          <a:p>
            <a:pPr marL="0" indent="0" algn="ctr">
              <a:buNone/>
            </a:pPr>
            <a:r>
              <a:rPr lang="en-US" sz="1050" dirty="0">
                <a:solidFill>
                  <a:srgbClr val="CBDDC4"/>
                </a:solidFill>
                <a:latin typeface="Calibri" pitchFamily="34" charset="0"/>
                <a:ea typeface="Calibri" pitchFamily="34" charset="-122"/>
                <a:cs typeface="Calibri" pitchFamily="34" charset="-120"/>
              </a:rPr>
              <a:t>Real Estate Property Data Analysis  |  25 August 2026</a:t>
            </a:r>
            <a:endParaRPr lang="en-US" sz="1050" dirty="0"/>
          </a:p>
        </p:txBody>
      </p:sp>
      <p:sp>
        <p:nvSpPr>
          <p:cNvPr id="18" name="Text 15"/>
          <p:cNvSpPr/>
          <p:nvPr/>
        </p:nvSpPr>
        <p:spPr>
          <a:xfrm>
            <a:off x="11274552" y="6400800"/>
            <a:ext cx="731520" cy="274320"/>
          </a:xfrm>
          <a:prstGeom prst="rect">
            <a:avLst/>
          </a:prstGeom>
          <a:noFill/>
          <a:ln/>
        </p:spPr>
        <p:txBody>
          <a:bodyPr wrap="square" rtlCol="0" anchor="ctr"/>
          <a:lstStyle/>
          <a:p>
            <a:pPr marL="0" indent="0" algn="r">
              <a:buNone/>
            </a:pPr>
            <a:r>
              <a:rPr lang="en-US" sz="1000" dirty="0">
                <a:solidFill>
                  <a:srgbClr val="CBDDC4"/>
                </a:solidFill>
                <a:latin typeface="Calibri" pitchFamily="34" charset="0"/>
                <a:ea typeface="Calibri" pitchFamily="34" charset="-122"/>
                <a:cs typeface="Calibri" pitchFamily="34" charset="-120"/>
              </a:rPr>
              <a:t>10/10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904</Words>
  <Application>Microsoft Office PowerPoint</Application>
  <PresentationFormat>Widescreen</PresentationFormat>
  <Paragraphs>187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Cayni Abuukar</cp:lastModifiedBy>
  <cp:revision>2</cp:revision>
  <dcterms:created xsi:type="dcterms:W3CDTF">2026-08-25T11:01:43Z</dcterms:created>
  <dcterms:modified xsi:type="dcterms:W3CDTF">2026-08-25T13:46:19Z</dcterms:modified>
</cp:coreProperties>
</file>